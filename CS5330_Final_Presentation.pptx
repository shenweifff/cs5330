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086" autoAdjust="0"/>
  </p:normalViewPr>
  <p:slideViewPr>
    <p:cSldViewPr snapToGrid="0" snapToObjects="1">
      <p:cViewPr>
        <p:scale>
          <a:sx n="100" d="100"/>
          <a:sy n="100" d="100"/>
        </p:scale>
        <p:origin x="420"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316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A]
Hi, I am Shenwei Fan, and my partner is Siwei An.
Our project is a real-time action recognition system that fuses a 3D CNN with optical flow on UCF-101.
The bottom line: 87.2% Top-1 accuracy at 22.8 FPS, above our 15 FPS real-time target.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A]
Action recognition means classifying what a person is doing in a video, like diving, basketball, or typing.
It matters for surveillance, sports analytics, and healthcare monitoring.
The challenge is that video needs joint modeling of appearance and motion, and real-time processing on a single GPU is hard.
Large Transformers like ViViT are accurate but far too slow for deployment.
Our solution: a lightweight two-branch fusion. A 3D CNN for appearance, optical flow for motion, giving us both accuracy and real-time speed.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A]
Three papers directly shaped our design.
First, Simonyan and Zisserman showed that pairing RGB with optical flow significantly outperforms either stream alone. That is the foundation of our dual-branch architecture.
Second, Tran et al. introduced 3D convolutions for spatiotemporal learning. Our RGB branch uses a 3D ResNet-18 based on that principle.
Third, SlowFast achieves top accuracy but at a compute cost too high for real-time use. That gap is exactly what our work targets.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A]
Our architecture has two parallel branches.
My RGB branch takes a 16-frame clip at 224 by 224 pixels through a 3D ResNet-18 with spatial-only stride. This preserves temporal resolution and outputs a 512-d feature vector.
[Person B]
My flow branch uses OpenCV Farneback to compute optical flow from the same clip.
We stack u and v channels across 16 frames, 32 channels total, into a single tensor. A 2D ResNet-18 with a replaced first conv layer outputs another 512-d motion feature.
We then concatenate both 512-d vectors into 1024-d. A fusion head, FC-512, ReLU, Dropout 0.5, FC-101, produces the final prediction.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B]
To reach 15 FPS we apply three inference-time optimizations.
First, 8-frame subsampling: every other frame, halving temporal computation. Cost: only 1.2 accuracy points on Split 1, from 89.3% to 88.1%.
Second, resolution from 224 to 112 pixels, four times fewer pixels, negligible accuracy impact.
Third, FP16 inference via PyTorch AMP. On modern NVIDIA GPUs this is essentially free, zero accuracy loss on Split 1.
Full sequential latency: 5.2 ms frame decode, 18.7 Farneback, 14.3 RGB branch, 10.1 flow branch, 7.6 fusion FC, total 55.9 ms.
Running flow in parallel with RGB inference saves 12 ms, giving 43.9 ms total, which is 22.8 FPS.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B]
We trained and evaluated on UCF-101: 13,320 clips, 101 categories, official 3-split protocol.
Both branches use the same config: SGD momentum 0.9, LR 0.001 decayed 10x at epochs 30 and 45, weight decay 5e-4, batch size 32, 60 epochs.
Augmentation: random crop, horizontal flip, color jitter. Training took about 14 hours on an NVIDIA RTX 5060 Ti.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B]
Table 1 results.
RGB-only: 82.1% at 31.2 FPS.
Flow-only: 39.6%. Low because tested on Split 1 only, and pure optical flow lacks appearance context. But it still adds complementary signal when fused.
FP32 fusion: 87.4%, plus 5.3 points over RGB-only. Our FP16 model: 87.2% at 22.8 FPS, plus 5.1 points.
Ablation: removing Dropout costs 1.9 points; removing ImageNet pretraining costs 4.6 points, the single largest factor.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[Person A]
To summarize.
Fusing both branches gives plus 5.1 points over RGB-only at 22.8 FPS, well above our 15 FPS target.
The main bottleneck is Farneback optical flow at 18.7 ms. Future work: replace it with RAFT-Tiny for faster learned flow.
We also plan to evaluate on Kinetics-400 and add action localization for untrimmed video.
Thank you,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97280"/>
            <a:ext cx="1106424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097280"/>
            <a:ext cx="164592" cy="457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71600"/>
            <a:ext cx="10241280" cy="1828800"/>
          </a:xfrm>
          <a:prstGeom prst="rect">
            <a:avLst/>
          </a:prstGeom>
          <a:noFill/>
        </p:spPr>
        <p:txBody>
          <a:bodyPr wrap="square">
            <a:spAutoFit/>
          </a:bodyPr>
          <a:lstStyle/>
          <a:p>
            <a:pPr algn="l"/>
            <a:r>
              <a:rPr sz="3600" b="1">
                <a:solidFill>
                  <a:srgbClr val="2B2B2B"/>
                </a:solidFill>
                <a:latin typeface="Calibri"/>
              </a:rPr>
              <a:t>Real-Time Action Recognition
via 3D CNN and Optical Flow Fusion</a:t>
            </a:r>
          </a:p>
        </p:txBody>
      </p:sp>
      <p:sp>
        <p:nvSpPr>
          <p:cNvPr id="8" name="TextBox 7"/>
          <p:cNvSpPr txBox="1"/>
          <p:nvPr/>
        </p:nvSpPr>
        <p:spPr>
          <a:xfrm>
            <a:off x="914400" y="3246120"/>
            <a:ext cx="10058400" cy="457200"/>
          </a:xfrm>
          <a:prstGeom prst="rect">
            <a:avLst/>
          </a:prstGeom>
          <a:noFill/>
        </p:spPr>
        <p:txBody>
          <a:bodyPr wrap="square">
            <a:spAutoFit/>
          </a:bodyPr>
          <a:lstStyle/>
          <a:p>
            <a:pPr algn="l"/>
            <a:r>
              <a:rPr sz="2200" b="1">
                <a:solidFill>
                  <a:srgbClr val="CC0000"/>
                </a:solidFill>
                <a:latin typeface="Calibri"/>
              </a:rPr>
              <a:t>Shenwei Fan  ·  Siwei An</a:t>
            </a:r>
          </a:p>
        </p:txBody>
      </p:sp>
      <p:sp>
        <p:nvSpPr>
          <p:cNvPr id="9" name="TextBox 8"/>
          <p:cNvSpPr txBox="1"/>
          <p:nvPr/>
        </p:nvSpPr>
        <p:spPr>
          <a:xfrm>
            <a:off x="914400" y="3749039"/>
            <a:ext cx="10058400" cy="365760"/>
          </a:xfrm>
          <a:prstGeom prst="rect">
            <a:avLst/>
          </a:prstGeom>
          <a:noFill/>
        </p:spPr>
        <p:txBody>
          <a:bodyPr wrap="square">
            <a:spAutoFit/>
          </a:bodyPr>
          <a:lstStyle/>
          <a:p>
            <a:pPr algn="l"/>
            <a:r>
              <a:rPr sz="1600" b="0">
                <a:solidFill>
                  <a:srgbClr val="555555"/>
                </a:solidFill>
                <a:latin typeface="Calibri"/>
              </a:rPr>
              <a:t>Khoury College of Computer Sciences, Northeastern University</a:t>
            </a:r>
          </a:p>
        </p:txBody>
      </p:sp>
      <p:sp>
        <p:nvSpPr>
          <p:cNvPr id="10" name="TextBox 9"/>
          <p:cNvSpPr txBox="1"/>
          <p:nvPr/>
        </p:nvSpPr>
        <p:spPr>
          <a:xfrm>
            <a:off x="914400" y="4160520"/>
            <a:ext cx="10058400" cy="365760"/>
          </a:xfrm>
          <a:prstGeom prst="rect">
            <a:avLst/>
          </a:prstGeom>
          <a:noFill/>
        </p:spPr>
        <p:txBody>
          <a:bodyPr wrap="square">
            <a:spAutoFit/>
          </a:bodyPr>
          <a:lstStyle/>
          <a:p>
            <a:pPr algn="l"/>
            <a:r>
              <a:rPr sz="1400" b="0">
                <a:solidFill>
                  <a:srgbClr val="555555"/>
                </a:solidFill>
                <a:latin typeface="Calibri"/>
              </a:rPr>
              <a:t>CS 5330 — Pattern Recognition and Computer Vision  |  Spring 2026</a:t>
            </a:r>
          </a:p>
        </p:txBody>
      </p:sp>
      <p:sp>
        <p:nvSpPr>
          <p:cNvPr id="11" name="TextBox 10"/>
          <p:cNvSpPr txBox="1"/>
          <p:nvPr/>
        </p:nvSpPr>
        <p:spPr>
          <a:xfrm>
            <a:off x="914400" y="5029200"/>
            <a:ext cx="10058400" cy="457200"/>
          </a:xfrm>
          <a:prstGeom prst="rect">
            <a:avLst/>
          </a:prstGeom>
          <a:noFill/>
        </p:spPr>
        <p:txBody>
          <a:bodyPr wrap="square">
            <a:spAutoFit/>
          </a:bodyPr>
          <a:lstStyle/>
          <a:p>
            <a:pPr algn="l"/>
            <a:r>
              <a:rPr sz="1400" b="0" i="1">
                <a:solidFill>
                  <a:srgbClr val="1F5EAA"/>
                </a:solidFill>
                <a:latin typeface="Calibri"/>
              </a:rPr>
              <a:t>UCF-101  ·  3D ResNet-18  ·  Optical Flow  ·  87.2% Top-1  ·  22.8 FPS</a:t>
            </a:r>
          </a:p>
        </p:txBody>
      </p:sp>
      <p:sp>
        <p:nvSpPr>
          <p:cNvPr id="12" name="Rectangle 11"/>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14" name="TextBox 13"/>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1 / 8</a:t>
            </a:r>
          </a:p>
        </p:txBody>
      </p:sp>
    </p:spTree>
  </p:cSld>
  <p:clrMapOvr>
    <a:masterClrMapping/>
  </p:clrMapOvr>
  <mc:AlternateContent xmlns:mc="http://schemas.openxmlformats.org/markup-compatibility/2006" xmlns:p14="http://schemas.microsoft.com/office/powerpoint/2010/main">
    <mc:Choice Requires="p14">
      <p:transition spd="slow" p14:dur="2000" advTm="401"/>
    </mc:Choice>
    <mc:Fallback xmlns="">
      <p:transition spd="slow" advTm="40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Introduction &amp; Motivation</a:t>
            </a:r>
          </a:p>
        </p:txBody>
      </p:sp>
      <p:sp>
        <p:nvSpPr>
          <p:cNvPr id="4" name="Rectangle 3"/>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7" name="TextBox 6"/>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2 / 8</a:t>
            </a:r>
          </a:p>
        </p:txBody>
      </p:sp>
      <p:sp>
        <p:nvSpPr>
          <p:cNvPr id="8" name="TextBox 7"/>
          <p:cNvSpPr txBox="1"/>
          <p:nvPr/>
        </p:nvSpPr>
        <p:spPr>
          <a:xfrm>
            <a:off x="365760" y="1234440"/>
            <a:ext cx="5394960" cy="2377440"/>
          </a:xfrm>
          <a:prstGeom prst="rect">
            <a:avLst/>
          </a:prstGeom>
          <a:noFill/>
        </p:spPr>
        <p:txBody>
          <a:bodyPr wrap="square">
            <a:spAutoFit/>
          </a:bodyPr>
          <a:lstStyle/>
          <a:p>
            <a:pPr algn="l"/>
            <a:r>
              <a:rPr sz="1600" b="1" dirty="0">
                <a:solidFill>
                  <a:srgbClr val="CC0000"/>
                </a:solidFill>
                <a:latin typeface="Calibri"/>
              </a:rPr>
              <a:t>Why Action Recognition?</a:t>
            </a:r>
          </a:p>
          <a:p>
            <a:pPr algn="l">
              <a:spcBef>
                <a:spcPts val="400"/>
              </a:spcBef>
            </a:pPr>
            <a:r>
              <a:rPr sz="1500" dirty="0">
                <a:solidFill>
                  <a:srgbClr val="2B2B2B"/>
                </a:solidFill>
                <a:latin typeface="Calibri"/>
              </a:rPr>
              <a:t>▸  Human action recognition is a core CV problem</a:t>
            </a:r>
          </a:p>
          <a:p>
            <a:pPr algn="l">
              <a:spcBef>
                <a:spcPts val="400"/>
              </a:spcBef>
            </a:pPr>
            <a:r>
              <a:rPr sz="1500" dirty="0">
                <a:solidFill>
                  <a:srgbClr val="2B2B2B"/>
                </a:solidFill>
                <a:latin typeface="Calibri"/>
              </a:rPr>
              <a:t>▸  Applications: surveillance, HCI, sports analytics, healthcare</a:t>
            </a:r>
          </a:p>
          <a:p>
            <a:pPr algn="l">
              <a:spcBef>
                <a:spcPts val="400"/>
              </a:spcBef>
            </a:pPr>
            <a:r>
              <a:rPr sz="1500" dirty="0">
                <a:solidFill>
                  <a:srgbClr val="2B2B2B"/>
                </a:solidFill>
                <a:latin typeface="Calibri"/>
              </a:rPr>
              <a:t>▸  Video needs joint modeling of appearance AND motion</a:t>
            </a:r>
          </a:p>
          <a:p>
            <a:pPr algn="l">
              <a:spcBef>
                <a:spcPts val="400"/>
              </a:spcBef>
            </a:pPr>
            <a:r>
              <a:rPr sz="1500" dirty="0">
                <a:solidFill>
                  <a:srgbClr val="2B2B2B"/>
                </a:solidFill>
                <a:latin typeface="Calibri"/>
              </a:rPr>
              <a:t>▸  Offline systems are accurate but too slow for deployment</a:t>
            </a:r>
          </a:p>
        </p:txBody>
      </p:sp>
      <p:sp>
        <p:nvSpPr>
          <p:cNvPr id="9" name="TextBox 8"/>
          <p:cNvSpPr txBox="1"/>
          <p:nvPr/>
        </p:nvSpPr>
        <p:spPr>
          <a:xfrm>
            <a:off x="365760" y="4617720"/>
            <a:ext cx="5394960" cy="2560320"/>
          </a:xfrm>
          <a:prstGeom prst="rect">
            <a:avLst/>
          </a:prstGeom>
          <a:noFill/>
        </p:spPr>
        <p:txBody>
          <a:bodyPr wrap="square">
            <a:spAutoFit/>
          </a:bodyPr>
          <a:lstStyle/>
          <a:p>
            <a:pPr algn="l"/>
            <a:r>
              <a:rPr sz="1600" b="1" dirty="0">
                <a:solidFill>
                  <a:srgbClr val="CC0000"/>
                </a:solidFill>
                <a:latin typeface="Calibri"/>
              </a:rPr>
              <a:t>The Real-Time Challenge</a:t>
            </a:r>
          </a:p>
          <a:p>
            <a:pPr algn="l">
              <a:spcBef>
                <a:spcPts val="400"/>
              </a:spcBef>
            </a:pPr>
            <a:r>
              <a:rPr sz="1500" dirty="0">
                <a:solidFill>
                  <a:srgbClr val="2B2B2B"/>
                </a:solidFill>
                <a:latin typeface="Calibri"/>
              </a:rPr>
              <a:t>▸  Target: ≥ 15 FPS on a single consumer GPU</a:t>
            </a:r>
          </a:p>
          <a:p>
            <a:pPr algn="l">
              <a:spcBef>
                <a:spcPts val="400"/>
              </a:spcBef>
            </a:pPr>
            <a:r>
              <a:rPr sz="1500" dirty="0">
                <a:solidFill>
                  <a:srgbClr val="2B2B2B"/>
                </a:solidFill>
                <a:latin typeface="Calibri"/>
              </a:rPr>
              <a:t>▸  Trade-off: accuracy  vs  inference latency</a:t>
            </a:r>
          </a:p>
          <a:p>
            <a:pPr algn="l">
              <a:spcBef>
                <a:spcPts val="400"/>
              </a:spcBef>
            </a:pPr>
            <a:r>
              <a:rPr sz="1500" dirty="0">
                <a:solidFill>
                  <a:srgbClr val="2B2B2B"/>
                </a:solidFill>
                <a:latin typeface="Calibri"/>
              </a:rPr>
              <a:t>▸  Large Transformers (</a:t>
            </a:r>
            <a:r>
              <a:rPr sz="1500" dirty="0" err="1">
                <a:solidFill>
                  <a:srgbClr val="2B2B2B"/>
                </a:solidFill>
                <a:latin typeface="Calibri"/>
              </a:rPr>
              <a:t>ViViT</a:t>
            </a:r>
            <a:r>
              <a:rPr sz="1500" dirty="0">
                <a:solidFill>
                  <a:srgbClr val="2B2B2B"/>
                </a:solidFill>
                <a:latin typeface="Calibri"/>
              </a:rPr>
              <a:t>, Video Swin) exceed latency budget</a:t>
            </a:r>
          </a:p>
          <a:p>
            <a:pPr algn="l">
              <a:spcBef>
                <a:spcPts val="400"/>
              </a:spcBef>
            </a:pPr>
            <a:r>
              <a:rPr sz="1500" dirty="0">
                <a:solidFill>
                  <a:srgbClr val="2B2B2B"/>
                </a:solidFill>
                <a:latin typeface="Calibri"/>
              </a:rPr>
              <a:t>▸  Lightweight 3D CNN + Optical Flow → best of both worlds</a:t>
            </a:r>
          </a:p>
        </p:txBody>
      </p:sp>
      <p:sp>
        <p:nvSpPr>
          <p:cNvPr id="10" name="Rectangle 9"/>
          <p:cNvSpPr/>
          <p:nvPr/>
        </p:nvSpPr>
        <p:spPr>
          <a:xfrm>
            <a:off x="6035040" y="1234440"/>
            <a:ext cx="5852160" cy="5029200"/>
          </a:xfrm>
          <a:prstGeom prst="rect">
            <a:avLst/>
          </a:prstGeom>
          <a:solidFill>
            <a:srgbClr val="F9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234440"/>
            <a:ext cx="5852160" cy="5029200"/>
          </a:xfrm>
          <a:prstGeom prst="rect">
            <a:avLst/>
          </a:prstGeom>
          <a:solidFill>
            <a:srgbClr val="F9F0F0"/>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417320"/>
            <a:ext cx="5486400" cy="411480"/>
          </a:xfrm>
          <a:prstGeom prst="rect">
            <a:avLst/>
          </a:prstGeom>
          <a:noFill/>
        </p:spPr>
        <p:txBody>
          <a:bodyPr wrap="square">
            <a:spAutoFit/>
          </a:bodyPr>
          <a:lstStyle/>
          <a:p>
            <a:pPr algn="l"/>
            <a:r>
              <a:rPr sz="1600" b="1">
                <a:solidFill>
                  <a:srgbClr val="CC0000"/>
                </a:solidFill>
                <a:latin typeface="Calibri"/>
              </a:rPr>
              <a:t>Research Question</a:t>
            </a:r>
          </a:p>
        </p:txBody>
      </p:sp>
      <p:sp>
        <p:nvSpPr>
          <p:cNvPr id="13" name="TextBox 12"/>
          <p:cNvSpPr txBox="1"/>
          <p:nvPr/>
        </p:nvSpPr>
        <p:spPr>
          <a:xfrm>
            <a:off x="6263640" y="1874519"/>
            <a:ext cx="5394960" cy="1371600"/>
          </a:xfrm>
          <a:prstGeom prst="rect">
            <a:avLst/>
          </a:prstGeom>
          <a:noFill/>
        </p:spPr>
        <p:txBody>
          <a:bodyPr wrap="square">
            <a:spAutoFit/>
          </a:bodyPr>
          <a:lstStyle/>
          <a:p>
            <a:pPr algn="l"/>
            <a:r>
              <a:rPr sz="1600" b="0" i="1">
                <a:solidFill>
                  <a:srgbClr val="2B2B2B"/>
                </a:solidFill>
                <a:latin typeface="Calibri"/>
              </a:rPr>
              <a:t>Can fusing 3D CNN spatiotemporal features with explicit optical flow improve recognition accuracy while still meeting the ≥15 FPS real-time requirement?</a:t>
            </a:r>
          </a:p>
        </p:txBody>
      </p:sp>
      <p:sp>
        <p:nvSpPr>
          <p:cNvPr id="14" name="TextBox 13"/>
          <p:cNvSpPr txBox="1"/>
          <p:nvPr/>
        </p:nvSpPr>
        <p:spPr>
          <a:xfrm>
            <a:off x="6263640" y="3429000"/>
            <a:ext cx="5486400" cy="411480"/>
          </a:xfrm>
          <a:prstGeom prst="rect">
            <a:avLst/>
          </a:prstGeom>
          <a:noFill/>
        </p:spPr>
        <p:txBody>
          <a:bodyPr wrap="square">
            <a:spAutoFit/>
          </a:bodyPr>
          <a:lstStyle/>
          <a:p>
            <a:pPr algn="l"/>
            <a:r>
              <a:rPr sz="1600" b="1">
                <a:solidFill>
                  <a:srgbClr val="277A3B"/>
                </a:solidFill>
                <a:latin typeface="Calibri"/>
              </a:rPr>
              <a:t>Our Answer</a:t>
            </a:r>
          </a:p>
        </p:txBody>
      </p:sp>
      <p:sp>
        <p:nvSpPr>
          <p:cNvPr id="15" name="TextBox 14"/>
          <p:cNvSpPr txBox="1"/>
          <p:nvPr/>
        </p:nvSpPr>
        <p:spPr>
          <a:xfrm>
            <a:off x="6263640" y="3886200"/>
            <a:ext cx="5394960" cy="2011680"/>
          </a:xfrm>
          <a:prstGeom prst="rect">
            <a:avLst/>
          </a:prstGeom>
          <a:noFill/>
        </p:spPr>
        <p:txBody>
          <a:bodyPr wrap="square">
            <a:spAutoFit/>
          </a:bodyPr>
          <a:lstStyle/>
          <a:p>
            <a:pPr algn="l"/>
            <a:r>
              <a:rPr sz="1500" b="0">
                <a:solidFill>
                  <a:srgbClr val="2B2B2B"/>
                </a:solidFill>
                <a:latin typeface="Calibri"/>
              </a:rPr>
              <a:t>Yes — 87.2% Top-1 accuracy at 22.8 FPS
(+5.1 pts (FP16) over RGB-only baseline)
Key: FP16 inference + 8-frame subsampling
eliminates the accuracy-speed trade-off.</a:t>
            </a:r>
          </a:p>
        </p:txBody>
      </p:sp>
      <p:pic>
        <p:nvPicPr>
          <p:cNvPr id="1026" name="Picture 2" descr="Action recognition as a computer vision task">
            <a:extLst>
              <a:ext uri="{FF2B5EF4-FFF2-40B4-BE49-F238E27FC236}">
                <a16:creationId xmlns:a16="http://schemas.microsoft.com/office/drawing/2014/main" id="{A8ED63DF-162C-2DA9-0170-8429F5AA0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516" y="2836235"/>
            <a:ext cx="2606790" cy="15878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69870"/>
    </mc:Choice>
    <mc:Fallback xmlns="">
      <p:transition spd="slow" advTm="698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Related Work</a:t>
            </a:r>
          </a:p>
        </p:txBody>
      </p:sp>
      <p:sp>
        <p:nvSpPr>
          <p:cNvPr id="4" name="Rectangle 3"/>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7" name="TextBox 6"/>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3 / 8</a:t>
            </a:r>
          </a:p>
        </p:txBody>
      </p:sp>
      <p:sp>
        <p:nvSpPr>
          <p:cNvPr id="8" name="Rectangle 7"/>
          <p:cNvSpPr/>
          <p:nvPr/>
        </p:nvSpPr>
        <p:spPr>
          <a:xfrm>
            <a:off x="320040" y="1188720"/>
            <a:ext cx="5669280" cy="251460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1280160"/>
            <a:ext cx="5486400" cy="274320"/>
          </a:xfrm>
          <a:prstGeom prst="rect">
            <a:avLst/>
          </a:prstGeom>
          <a:noFill/>
        </p:spPr>
        <p:txBody>
          <a:bodyPr wrap="square">
            <a:spAutoFit/>
          </a:bodyPr>
          <a:lstStyle/>
          <a:p>
            <a:pPr algn="l"/>
            <a:r>
              <a:rPr sz="1100" b="1">
                <a:solidFill>
                  <a:srgbClr val="CC0000"/>
                </a:solidFill>
                <a:latin typeface="Calibri"/>
              </a:rPr>
              <a:t>[1] Simonyan &amp; Zisserman, NeurIPS 2014</a:t>
            </a:r>
          </a:p>
        </p:txBody>
      </p:sp>
      <p:sp>
        <p:nvSpPr>
          <p:cNvPr id="10" name="TextBox 9"/>
          <p:cNvSpPr txBox="1"/>
          <p:nvPr/>
        </p:nvSpPr>
        <p:spPr>
          <a:xfrm>
            <a:off x="429768" y="1554480"/>
            <a:ext cx="5486400" cy="347472"/>
          </a:xfrm>
          <a:prstGeom prst="rect">
            <a:avLst/>
          </a:prstGeom>
          <a:noFill/>
        </p:spPr>
        <p:txBody>
          <a:bodyPr wrap="square">
            <a:spAutoFit/>
          </a:bodyPr>
          <a:lstStyle/>
          <a:p>
            <a:pPr algn="l"/>
            <a:r>
              <a:rPr sz="1400" b="1">
                <a:solidFill>
                  <a:srgbClr val="2B2B2B"/>
                </a:solidFill>
                <a:latin typeface="Calibri"/>
              </a:rPr>
              <a:t>Two-Stream Convolutional Networks</a:t>
            </a:r>
          </a:p>
        </p:txBody>
      </p:sp>
      <p:sp>
        <p:nvSpPr>
          <p:cNvPr id="11" name="TextBox 10"/>
          <p:cNvSpPr txBox="1"/>
          <p:nvPr/>
        </p:nvSpPr>
        <p:spPr>
          <a:xfrm>
            <a:off x="429768" y="1938528"/>
            <a:ext cx="5486400" cy="1645920"/>
          </a:xfrm>
          <a:prstGeom prst="rect">
            <a:avLst/>
          </a:prstGeom>
          <a:noFill/>
        </p:spPr>
        <p:txBody>
          <a:bodyPr wrap="square">
            <a:spAutoFit/>
          </a:bodyPr>
          <a:lstStyle/>
          <a:p>
            <a:pPr algn="l"/>
            <a:r>
              <a:rPr sz="1200" b="0">
                <a:solidFill>
                  <a:srgbClr val="555555"/>
                </a:solidFill>
                <a:latin typeface="Calibri"/>
              </a:rPr>
              <a:t>Established the two-stream paradigm: RGB stream captures
appearance; optical flow stream captures motion. Showed
that explicit flow cues significantly boost accuracy.
→ Direct inspiration for our dual-branch design.</a:t>
            </a:r>
          </a:p>
        </p:txBody>
      </p:sp>
      <p:sp>
        <p:nvSpPr>
          <p:cNvPr id="12" name="Rectangle 11"/>
          <p:cNvSpPr/>
          <p:nvPr/>
        </p:nvSpPr>
        <p:spPr>
          <a:xfrm>
            <a:off x="6172200" y="1188720"/>
            <a:ext cx="5669280" cy="251460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1280160"/>
            <a:ext cx="5486400" cy="274320"/>
          </a:xfrm>
          <a:prstGeom prst="rect">
            <a:avLst/>
          </a:prstGeom>
          <a:noFill/>
        </p:spPr>
        <p:txBody>
          <a:bodyPr wrap="square">
            <a:spAutoFit/>
          </a:bodyPr>
          <a:lstStyle/>
          <a:p>
            <a:pPr algn="l"/>
            <a:r>
              <a:rPr sz="1100" b="1">
                <a:solidFill>
                  <a:srgbClr val="CC0000"/>
                </a:solidFill>
                <a:latin typeface="Calibri"/>
              </a:rPr>
              <a:t>[2] Tran et al., ICCV 2015</a:t>
            </a:r>
          </a:p>
        </p:txBody>
      </p:sp>
      <p:sp>
        <p:nvSpPr>
          <p:cNvPr id="14" name="TextBox 13"/>
          <p:cNvSpPr txBox="1"/>
          <p:nvPr/>
        </p:nvSpPr>
        <p:spPr>
          <a:xfrm>
            <a:off x="6281928" y="1554480"/>
            <a:ext cx="5486400" cy="347472"/>
          </a:xfrm>
          <a:prstGeom prst="rect">
            <a:avLst/>
          </a:prstGeom>
          <a:noFill/>
        </p:spPr>
        <p:txBody>
          <a:bodyPr wrap="square">
            <a:spAutoFit/>
          </a:bodyPr>
          <a:lstStyle/>
          <a:p>
            <a:pPr algn="l"/>
            <a:r>
              <a:rPr sz="1400" b="1">
                <a:solidFill>
                  <a:srgbClr val="2B2B2B"/>
                </a:solidFill>
                <a:latin typeface="Calibri"/>
              </a:rPr>
              <a:t>C3D — Learning Spatiotemporal Features</a:t>
            </a:r>
          </a:p>
        </p:txBody>
      </p:sp>
      <p:sp>
        <p:nvSpPr>
          <p:cNvPr id="15" name="TextBox 14"/>
          <p:cNvSpPr txBox="1"/>
          <p:nvPr/>
        </p:nvSpPr>
        <p:spPr>
          <a:xfrm>
            <a:off x="6281928" y="1938528"/>
            <a:ext cx="5486400" cy="1645920"/>
          </a:xfrm>
          <a:prstGeom prst="rect">
            <a:avLst/>
          </a:prstGeom>
          <a:noFill/>
        </p:spPr>
        <p:txBody>
          <a:bodyPr wrap="square">
            <a:spAutoFit/>
          </a:bodyPr>
          <a:lstStyle/>
          <a:p>
            <a:pPr algn="l"/>
            <a:r>
              <a:rPr sz="1200" b="0">
                <a:solidFill>
                  <a:srgbClr val="555555"/>
                </a:solidFill>
                <a:latin typeface="Calibri"/>
              </a:rPr>
              <a:t>Proposed 3D convolutions to jointly learn spatial
and temporal features from raw video. Became the standard
spatiotemporal backbone for action recognition.
→ Foundation of our 3D ResNet-18 RGB branch.</a:t>
            </a:r>
          </a:p>
        </p:txBody>
      </p:sp>
      <p:sp>
        <p:nvSpPr>
          <p:cNvPr id="16" name="Rectangle 15"/>
          <p:cNvSpPr/>
          <p:nvPr/>
        </p:nvSpPr>
        <p:spPr>
          <a:xfrm>
            <a:off x="320040" y="3931920"/>
            <a:ext cx="5669280" cy="251460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 y="4023360"/>
            <a:ext cx="5486400" cy="274320"/>
          </a:xfrm>
          <a:prstGeom prst="rect">
            <a:avLst/>
          </a:prstGeom>
          <a:noFill/>
        </p:spPr>
        <p:txBody>
          <a:bodyPr wrap="square">
            <a:spAutoFit/>
          </a:bodyPr>
          <a:lstStyle/>
          <a:p>
            <a:pPr algn="l"/>
            <a:r>
              <a:rPr sz="1100" b="1">
                <a:solidFill>
                  <a:srgbClr val="CC0000"/>
                </a:solidFill>
                <a:latin typeface="Calibri"/>
              </a:rPr>
              <a:t>[3] Feichtenhofer et al., ICCV 2019</a:t>
            </a:r>
          </a:p>
        </p:txBody>
      </p:sp>
      <p:sp>
        <p:nvSpPr>
          <p:cNvPr id="18" name="TextBox 17"/>
          <p:cNvSpPr txBox="1"/>
          <p:nvPr/>
        </p:nvSpPr>
        <p:spPr>
          <a:xfrm>
            <a:off x="429768" y="4297680"/>
            <a:ext cx="5486400" cy="347472"/>
          </a:xfrm>
          <a:prstGeom prst="rect">
            <a:avLst/>
          </a:prstGeom>
          <a:noFill/>
        </p:spPr>
        <p:txBody>
          <a:bodyPr wrap="square">
            <a:spAutoFit/>
          </a:bodyPr>
          <a:lstStyle/>
          <a:p>
            <a:pPr algn="l"/>
            <a:r>
              <a:rPr sz="1400" b="1">
                <a:solidFill>
                  <a:srgbClr val="2B2B2B"/>
                </a:solidFill>
                <a:latin typeface="Calibri"/>
              </a:rPr>
              <a:t>SlowFast Networks</a:t>
            </a:r>
          </a:p>
        </p:txBody>
      </p:sp>
      <p:sp>
        <p:nvSpPr>
          <p:cNvPr id="19" name="TextBox 18"/>
          <p:cNvSpPr txBox="1"/>
          <p:nvPr/>
        </p:nvSpPr>
        <p:spPr>
          <a:xfrm>
            <a:off x="429768" y="4681728"/>
            <a:ext cx="5486400" cy="1645920"/>
          </a:xfrm>
          <a:prstGeom prst="rect">
            <a:avLst/>
          </a:prstGeom>
          <a:noFill/>
        </p:spPr>
        <p:txBody>
          <a:bodyPr wrap="square">
            <a:spAutoFit/>
          </a:bodyPr>
          <a:lstStyle/>
          <a:p>
            <a:pPr algn="l"/>
            <a:r>
              <a:rPr sz="1200" b="0">
                <a:solidFill>
                  <a:srgbClr val="555555"/>
                </a:solidFill>
                <a:latin typeface="Calibri"/>
              </a:rPr>
              <a:t>Processes video at two temporal resolutions: slow pathway
captures semantics; fast pathway captures motion.
State-of-the-art on Kinetics but high compute cost.
→ Motivates our lightweight real-time alternative.</a:t>
            </a:r>
          </a:p>
        </p:txBody>
      </p:sp>
      <p:sp>
        <p:nvSpPr>
          <p:cNvPr id="20" name="Rectangle 19"/>
          <p:cNvSpPr/>
          <p:nvPr/>
        </p:nvSpPr>
        <p:spPr>
          <a:xfrm>
            <a:off x="6172200" y="3931920"/>
            <a:ext cx="5669280" cy="251460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81928" y="4023360"/>
            <a:ext cx="5486400" cy="274320"/>
          </a:xfrm>
          <a:prstGeom prst="rect">
            <a:avLst/>
          </a:prstGeom>
          <a:noFill/>
        </p:spPr>
        <p:txBody>
          <a:bodyPr wrap="square">
            <a:spAutoFit/>
          </a:bodyPr>
          <a:lstStyle/>
          <a:p>
            <a:pPr algn="l"/>
            <a:r>
              <a:rPr sz="1100" b="1">
                <a:solidFill>
                  <a:srgbClr val="CC0000"/>
                </a:solidFill>
                <a:latin typeface="Calibri"/>
              </a:rPr>
              <a:t>[7,8] Arnab et al. / Liu et al., ICCV/CVPR 2021-22</a:t>
            </a:r>
          </a:p>
        </p:txBody>
      </p:sp>
      <p:sp>
        <p:nvSpPr>
          <p:cNvPr id="22" name="TextBox 21"/>
          <p:cNvSpPr txBox="1"/>
          <p:nvPr/>
        </p:nvSpPr>
        <p:spPr>
          <a:xfrm>
            <a:off x="6281928" y="4297680"/>
            <a:ext cx="5486400" cy="347472"/>
          </a:xfrm>
          <a:prstGeom prst="rect">
            <a:avLst/>
          </a:prstGeom>
          <a:noFill/>
        </p:spPr>
        <p:txBody>
          <a:bodyPr wrap="square">
            <a:spAutoFit/>
          </a:bodyPr>
          <a:lstStyle/>
          <a:p>
            <a:pPr algn="l"/>
            <a:r>
              <a:rPr sz="1400" b="1">
                <a:solidFill>
                  <a:srgbClr val="2B2B2B"/>
                </a:solidFill>
                <a:latin typeface="Calibri"/>
              </a:rPr>
              <a:t>ViViT &amp; Video Swin Transformer</a:t>
            </a:r>
          </a:p>
        </p:txBody>
      </p:sp>
      <p:sp>
        <p:nvSpPr>
          <p:cNvPr id="23" name="TextBox 22"/>
          <p:cNvSpPr txBox="1"/>
          <p:nvPr/>
        </p:nvSpPr>
        <p:spPr>
          <a:xfrm>
            <a:off x="6281928" y="4681728"/>
            <a:ext cx="5486400" cy="1645920"/>
          </a:xfrm>
          <a:prstGeom prst="rect">
            <a:avLst/>
          </a:prstGeom>
          <a:noFill/>
        </p:spPr>
        <p:txBody>
          <a:bodyPr wrap="square">
            <a:spAutoFit/>
          </a:bodyPr>
          <a:lstStyle/>
          <a:p>
            <a:pPr algn="l"/>
            <a:r>
              <a:rPr sz="1200" b="0">
                <a:solidFill>
                  <a:srgbClr val="555555"/>
                </a:solidFill>
                <a:latin typeface="Calibri"/>
              </a:rPr>
              <a:t>Transformer-based architectures achieve top accuracy on
large benchmarks but are too slow for real-time deployment.
→ Establishes the gap our work targets.</a:t>
            </a:r>
          </a:p>
        </p:txBody>
      </p:sp>
    </p:spTree>
  </p:cSld>
  <p:clrMapOvr>
    <a:masterClrMapping/>
  </p:clrMapOvr>
  <mc:AlternateContent xmlns:mc="http://schemas.openxmlformats.org/markup-compatibility/2006" xmlns:p14="http://schemas.microsoft.com/office/powerpoint/2010/main">
    <mc:Choice Requires="p14">
      <p:transition spd="slow" p14:dur="2000" advTm="76545"/>
    </mc:Choice>
    <mc:Fallback xmlns="">
      <p:transition spd="slow" advTm="7654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Proposed Method</a:t>
            </a:r>
          </a:p>
        </p:txBody>
      </p:sp>
      <p:sp>
        <p:nvSpPr>
          <p:cNvPr id="4" name="TextBox 3"/>
          <p:cNvSpPr txBox="1"/>
          <p:nvPr/>
        </p:nvSpPr>
        <p:spPr>
          <a:xfrm>
            <a:off x="365760" y="713232"/>
            <a:ext cx="10972800" cy="320040"/>
          </a:xfrm>
          <a:prstGeom prst="rect">
            <a:avLst/>
          </a:prstGeom>
          <a:noFill/>
        </p:spPr>
        <p:txBody>
          <a:bodyPr wrap="square">
            <a:spAutoFit/>
          </a:bodyPr>
          <a:lstStyle/>
          <a:p>
            <a:pPr algn="l"/>
            <a:r>
              <a:rPr sz="1400" b="0">
                <a:solidFill>
                  <a:srgbClr val="FFCCCC"/>
                </a:solidFill>
                <a:latin typeface="Calibri"/>
              </a:rPr>
              <a:t>Two-Branch Fusion Architecture  (Paper §III)</a:t>
            </a:r>
          </a:p>
        </p:txBody>
      </p:sp>
      <p:sp>
        <p:nvSpPr>
          <p:cNvPr id="5" name="Rectangle 4"/>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8" name="TextBox 7"/>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4 / 8</a:t>
            </a:r>
          </a:p>
        </p:txBody>
      </p:sp>
      <p:sp>
        <p:nvSpPr>
          <p:cNvPr id="9" name="Rectangle 8"/>
          <p:cNvSpPr/>
          <p:nvPr/>
        </p:nvSpPr>
        <p:spPr>
          <a:xfrm>
            <a:off x="228600" y="1280160"/>
            <a:ext cx="2011680" cy="822960"/>
          </a:xfrm>
          <a:prstGeom prst="rect">
            <a:avLst/>
          </a:prstGeom>
          <a:solidFill>
            <a:srgbClr val="1F5EA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 y="1335024"/>
            <a:ext cx="2011680" cy="411480"/>
          </a:xfrm>
          <a:prstGeom prst="rect">
            <a:avLst/>
          </a:prstGeom>
          <a:noFill/>
        </p:spPr>
        <p:txBody>
          <a:bodyPr wrap="square">
            <a:spAutoFit/>
          </a:bodyPr>
          <a:lstStyle/>
          <a:p>
            <a:pPr algn="ctr"/>
            <a:r>
              <a:rPr sz="1300" b="1">
                <a:solidFill>
                  <a:srgbClr val="FFFFFF"/>
                </a:solidFill>
                <a:latin typeface="Calibri"/>
              </a:rPr>
              <a:t>RGB Clip</a:t>
            </a:r>
          </a:p>
        </p:txBody>
      </p:sp>
      <p:sp>
        <p:nvSpPr>
          <p:cNvPr id="11" name="TextBox 10"/>
          <p:cNvSpPr txBox="1"/>
          <p:nvPr/>
        </p:nvSpPr>
        <p:spPr>
          <a:xfrm>
            <a:off x="228600" y="1719072"/>
            <a:ext cx="2011680" cy="347472"/>
          </a:xfrm>
          <a:prstGeom prst="rect">
            <a:avLst/>
          </a:prstGeom>
          <a:noFill/>
        </p:spPr>
        <p:txBody>
          <a:bodyPr wrap="square">
            <a:spAutoFit/>
          </a:bodyPr>
          <a:lstStyle/>
          <a:p>
            <a:pPr algn="ctr"/>
            <a:r>
              <a:rPr sz="1100" b="0">
                <a:solidFill>
                  <a:srgbClr val="CCDDFF"/>
                </a:solidFill>
                <a:latin typeface="Calibri"/>
              </a:rPr>
              <a:t>(B, 3, 16, 224, 224)</a:t>
            </a:r>
          </a:p>
        </p:txBody>
      </p:sp>
      <p:sp>
        <p:nvSpPr>
          <p:cNvPr id="12" name="Rectangle 11"/>
          <p:cNvSpPr/>
          <p:nvPr/>
        </p:nvSpPr>
        <p:spPr>
          <a:xfrm>
            <a:off x="2286000" y="1609344"/>
            <a:ext cx="320040"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06040" y="1280160"/>
            <a:ext cx="2011680" cy="822960"/>
          </a:xfrm>
          <a:prstGeom prst="rect">
            <a:avLst/>
          </a:prstGeom>
          <a:solidFill>
            <a:srgbClr val="1F5EA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06040" y="1335024"/>
            <a:ext cx="2011680" cy="411480"/>
          </a:xfrm>
          <a:prstGeom prst="rect">
            <a:avLst/>
          </a:prstGeom>
          <a:noFill/>
        </p:spPr>
        <p:txBody>
          <a:bodyPr wrap="square">
            <a:spAutoFit/>
          </a:bodyPr>
          <a:lstStyle/>
          <a:p>
            <a:pPr algn="ctr"/>
            <a:r>
              <a:rPr sz="1300" b="1">
                <a:solidFill>
                  <a:srgbClr val="FFFFFF"/>
                </a:solidFill>
                <a:latin typeface="Calibri"/>
              </a:rPr>
              <a:t>3D ResNet-18</a:t>
            </a:r>
          </a:p>
        </p:txBody>
      </p:sp>
      <p:sp>
        <p:nvSpPr>
          <p:cNvPr id="15" name="TextBox 14"/>
          <p:cNvSpPr txBox="1"/>
          <p:nvPr/>
        </p:nvSpPr>
        <p:spPr>
          <a:xfrm>
            <a:off x="2606040" y="1719072"/>
            <a:ext cx="2011680" cy="347472"/>
          </a:xfrm>
          <a:prstGeom prst="rect">
            <a:avLst/>
          </a:prstGeom>
          <a:noFill/>
        </p:spPr>
        <p:txBody>
          <a:bodyPr wrap="square">
            <a:spAutoFit/>
          </a:bodyPr>
          <a:lstStyle/>
          <a:p>
            <a:pPr algn="ctr"/>
            <a:r>
              <a:rPr sz="1100" b="0">
                <a:solidFill>
                  <a:srgbClr val="CCDDFF"/>
                </a:solidFill>
                <a:latin typeface="Calibri"/>
              </a:rPr>
              <a:t>Stem + 4 layers</a:t>
            </a:r>
          </a:p>
        </p:txBody>
      </p:sp>
      <p:sp>
        <p:nvSpPr>
          <p:cNvPr id="16" name="Rectangle 15"/>
          <p:cNvSpPr/>
          <p:nvPr/>
        </p:nvSpPr>
        <p:spPr>
          <a:xfrm>
            <a:off x="4663440" y="1609344"/>
            <a:ext cx="320040"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1353312"/>
            <a:ext cx="685800" cy="256032"/>
          </a:xfrm>
          <a:prstGeom prst="rect">
            <a:avLst/>
          </a:prstGeom>
          <a:noFill/>
        </p:spPr>
        <p:txBody>
          <a:bodyPr wrap="square">
            <a:spAutoFit/>
          </a:bodyPr>
          <a:lstStyle/>
          <a:p>
            <a:pPr algn="ctr"/>
            <a:r>
              <a:rPr sz="1000" b="0">
                <a:solidFill>
                  <a:srgbClr val="CC0000"/>
                </a:solidFill>
                <a:latin typeface="Calibri"/>
              </a:rPr>
              <a:t>512-d</a:t>
            </a:r>
          </a:p>
        </p:txBody>
      </p:sp>
      <p:sp>
        <p:nvSpPr>
          <p:cNvPr id="18" name="Rectangle 17"/>
          <p:cNvSpPr/>
          <p:nvPr/>
        </p:nvSpPr>
        <p:spPr>
          <a:xfrm>
            <a:off x="4983480" y="1280160"/>
            <a:ext cx="2011680" cy="822960"/>
          </a:xfrm>
          <a:prstGeom prst="rect">
            <a:avLst/>
          </a:prstGeom>
          <a:solidFill>
            <a:srgbClr val="277A3B"/>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83480" y="1335024"/>
            <a:ext cx="2011680" cy="411480"/>
          </a:xfrm>
          <a:prstGeom prst="rect">
            <a:avLst/>
          </a:prstGeom>
          <a:noFill/>
        </p:spPr>
        <p:txBody>
          <a:bodyPr wrap="square">
            <a:spAutoFit/>
          </a:bodyPr>
          <a:lstStyle/>
          <a:p>
            <a:pPr algn="ctr"/>
            <a:r>
              <a:rPr sz="1300" b="1">
                <a:solidFill>
                  <a:srgbClr val="FFFFFF"/>
                </a:solidFill>
                <a:latin typeface="Calibri"/>
              </a:rPr>
              <a:t>Feature</a:t>
            </a:r>
          </a:p>
        </p:txBody>
      </p:sp>
      <p:sp>
        <p:nvSpPr>
          <p:cNvPr id="20" name="TextBox 19"/>
          <p:cNvSpPr txBox="1"/>
          <p:nvPr/>
        </p:nvSpPr>
        <p:spPr>
          <a:xfrm>
            <a:off x="4983480" y="1719072"/>
            <a:ext cx="2011680" cy="347472"/>
          </a:xfrm>
          <a:prstGeom prst="rect">
            <a:avLst/>
          </a:prstGeom>
          <a:noFill/>
        </p:spPr>
        <p:txBody>
          <a:bodyPr wrap="square">
            <a:spAutoFit/>
          </a:bodyPr>
          <a:lstStyle/>
          <a:p>
            <a:pPr algn="ctr"/>
            <a:r>
              <a:rPr sz="1100" b="0">
                <a:solidFill>
                  <a:srgbClr val="FFFFFF"/>
                </a:solidFill>
                <a:latin typeface="Calibri"/>
              </a:rPr>
              <a:t>f_rgb  (B, 512)</a:t>
            </a:r>
          </a:p>
        </p:txBody>
      </p:sp>
      <p:sp>
        <p:nvSpPr>
          <p:cNvPr id="21" name="Rectangle 20"/>
          <p:cNvSpPr/>
          <p:nvPr/>
        </p:nvSpPr>
        <p:spPr>
          <a:xfrm>
            <a:off x="228600" y="3154680"/>
            <a:ext cx="2011680" cy="822960"/>
          </a:xfrm>
          <a:prstGeom prst="rect">
            <a:avLst/>
          </a:prstGeom>
          <a:solidFill>
            <a:srgbClr val="1F5EA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8600" y="3209544"/>
            <a:ext cx="2011680" cy="411480"/>
          </a:xfrm>
          <a:prstGeom prst="rect">
            <a:avLst/>
          </a:prstGeom>
          <a:noFill/>
        </p:spPr>
        <p:txBody>
          <a:bodyPr wrap="square">
            <a:spAutoFit/>
          </a:bodyPr>
          <a:lstStyle/>
          <a:p>
            <a:pPr algn="ctr"/>
            <a:r>
              <a:rPr sz="1300" b="1">
                <a:solidFill>
                  <a:srgbClr val="FFFFFF"/>
                </a:solidFill>
                <a:latin typeface="Calibri"/>
              </a:rPr>
              <a:t>Video Frames</a:t>
            </a:r>
          </a:p>
        </p:txBody>
      </p:sp>
      <p:sp>
        <p:nvSpPr>
          <p:cNvPr id="23" name="TextBox 22"/>
          <p:cNvSpPr txBox="1"/>
          <p:nvPr/>
        </p:nvSpPr>
        <p:spPr>
          <a:xfrm>
            <a:off x="228600" y="3593592"/>
            <a:ext cx="2011680" cy="347472"/>
          </a:xfrm>
          <a:prstGeom prst="rect">
            <a:avLst/>
          </a:prstGeom>
          <a:noFill/>
        </p:spPr>
        <p:txBody>
          <a:bodyPr wrap="square">
            <a:spAutoFit/>
          </a:bodyPr>
          <a:lstStyle/>
          <a:p>
            <a:pPr algn="ctr"/>
            <a:r>
              <a:rPr sz="1100" b="0">
                <a:solidFill>
                  <a:srgbClr val="CCDDFF"/>
                </a:solidFill>
                <a:latin typeface="Calibri"/>
              </a:rPr>
              <a:t>(B, 3, 16, H, W)</a:t>
            </a:r>
          </a:p>
        </p:txBody>
      </p:sp>
      <p:sp>
        <p:nvSpPr>
          <p:cNvPr id="24" name="Rectangle 23"/>
          <p:cNvSpPr/>
          <p:nvPr/>
        </p:nvSpPr>
        <p:spPr>
          <a:xfrm>
            <a:off x="2286000" y="3483864"/>
            <a:ext cx="320040"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606040" y="3154680"/>
            <a:ext cx="2011680" cy="822960"/>
          </a:xfrm>
          <a:prstGeom prst="rect">
            <a:avLst/>
          </a:prstGeom>
          <a:solidFill>
            <a:srgbClr val="8B4513"/>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06040" y="3209544"/>
            <a:ext cx="2011680" cy="411480"/>
          </a:xfrm>
          <a:prstGeom prst="rect">
            <a:avLst/>
          </a:prstGeom>
          <a:noFill/>
        </p:spPr>
        <p:txBody>
          <a:bodyPr wrap="square">
            <a:spAutoFit/>
          </a:bodyPr>
          <a:lstStyle/>
          <a:p>
            <a:pPr algn="ctr"/>
            <a:r>
              <a:rPr sz="1300" b="1">
                <a:solidFill>
                  <a:srgbClr val="FFFFFF"/>
                </a:solidFill>
                <a:latin typeface="Calibri"/>
              </a:rPr>
              <a:t>Farneback Flow</a:t>
            </a:r>
          </a:p>
        </p:txBody>
      </p:sp>
      <p:sp>
        <p:nvSpPr>
          <p:cNvPr id="27" name="TextBox 26"/>
          <p:cNvSpPr txBox="1"/>
          <p:nvPr/>
        </p:nvSpPr>
        <p:spPr>
          <a:xfrm>
            <a:off x="2606040" y="3593592"/>
            <a:ext cx="2011680" cy="347472"/>
          </a:xfrm>
          <a:prstGeom prst="rect">
            <a:avLst/>
          </a:prstGeom>
          <a:noFill/>
        </p:spPr>
        <p:txBody>
          <a:bodyPr wrap="square">
            <a:spAutoFit/>
          </a:bodyPr>
          <a:lstStyle/>
          <a:p>
            <a:pPr algn="ctr"/>
            <a:r>
              <a:rPr sz="1100" b="0">
                <a:solidFill>
                  <a:srgbClr val="FFFFFF"/>
                </a:solidFill>
                <a:latin typeface="Calibri"/>
              </a:rPr>
              <a:t>OpenCV → u, v maps</a:t>
            </a:r>
          </a:p>
        </p:txBody>
      </p:sp>
      <p:sp>
        <p:nvSpPr>
          <p:cNvPr id="28" name="Rectangle 27"/>
          <p:cNvSpPr/>
          <p:nvPr/>
        </p:nvSpPr>
        <p:spPr>
          <a:xfrm>
            <a:off x="4663440" y="3483864"/>
            <a:ext cx="320040"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983480" y="3154680"/>
            <a:ext cx="2011680" cy="822960"/>
          </a:xfrm>
          <a:prstGeom prst="rect">
            <a:avLst/>
          </a:prstGeom>
          <a:solidFill>
            <a:srgbClr val="8B4513"/>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83480" y="3209544"/>
            <a:ext cx="2011680" cy="411480"/>
          </a:xfrm>
          <a:prstGeom prst="rect">
            <a:avLst/>
          </a:prstGeom>
          <a:noFill/>
        </p:spPr>
        <p:txBody>
          <a:bodyPr wrap="square">
            <a:spAutoFit/>
          </a:bodyPr>
          <a:lstStyle/>
          <a:p>
            <a:pPr algn="ctr"/>
            <a:r>
              <a:rPr sz="1300" b="1">
                <a:solidFill>
                  <a:srgbClr val="FFFFFF"/>
                </a:solidFill>
                <a:latin typeface="Calibri"/>
              </a:rPr>
              <a:t>2D ResNet-18</a:t>
            </a:r>
          </a:p>
        </p:txBody>
      </p:sp>
      <p:sp>
        <p:nvSpPr>
          <p:cNvPr id="31" name="TextBox 30"/>
          <p:cNvSpPr txBox="1"/>
          <p:nvPr/>
        </p:nvSpPr>
        <p:spPr>
          <a:xfrm>
            <a:off x="4983480" y="3593592"/>
            <a:ext cx="2011680" cy="347472"/>
          </a:xfrm>
          <a:prstGeom prst="rect">
            <a:avLst/>
          </a:prstGeom>
          <a:noFill/>
        </p:spPr>
        <p:txBody>
          <a:bodyPr wrap="square">
            <a:spAutoFit/>
          </a:bodyPr>
          <a:lstStyle/>
          <a:p>
            <a:pPr algn="ctr"/>
            <a:r>
              <a:rPr sz="1100" b="0">
                <a:solidFill>
                  <a:srgbClr val="FFFFFF"/>
                </a:solidFill>
                <a:latin typeface="Calibri"/>
              </a:rPr>
              <a:t>(B, 32, 224, 224)</a:t>
            </a:r>
          </a:p>
        </p:txBody>
      </p:sp>
      <p:sp>
        <p:nvSpPr>
          <p:cNvPr id="32" name="Rectangle 31"/>
          <p:cNvSpPr/>
          <p:nvPr/>
        </p:nvSpPr>
        <p:spPr>
          <a:xfrm>
            <a:off x="7040880" y="3483864"/>
            <a:ext cx="320040"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0" y="3227832"/>
            <a:ext cx="685800" cy="256032"/>
          </a:xfrm>
          <a:prstGeom prst="rect">
            <a:avLst/>
          </a:prstGeom>
          <a:noFill/>
        </p:spPr>
        <p:txBody>
          <a:bodyPr wrap="square">
            <a:spAutoFit/>
          </a:bodyPr>
          <a:lstStyle/>
          <a:p>
            <a:pPr algn="ctr"/>
            <a:r>
              <a:rPr sz="1000" b="0">
                <a:solidFill>
                  <a:srgbClr val="CC0000"/>
                </a:solidFill>
                <a:latin typeface="Calibri"/>
              </a:rPr>
              <a:t>512-d</a:t>
            </a:r>
          </a:p>
        </p:txBody>
      </p:sp>
      <p:sp>
        <p:nvSpPr>
          <p:cNvPr id="34" name="Rectangle 33"/>
          <p:cNvSpPr/>
          <p:nvPr/>
        </p:nvSpPr>
        <p:spPr>
          <a:xfrm>
            <a:off x="7360920" y="3154680"/>
            <a:ext cx="2011680" cy="822960"/>
          </a:xfrm>
          <a:prstGeom prst="rect">
            <a:avLst/>
          </a:prstGeom>
          <a:solidFill>
            <a:srgbClr val="277A3B"/>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60920" y="3209544"/>
            <a:ext cx="2011680" cy="411480"/>
          </a:xfrm>
          <a:prstGeom prst="rect">
            <a:avLst/>
          </a:prstGeom>
          <a:noFill/>
        </p:spPr>
        <p:txBody>
          <a:bodyPr wrap="square">
            <a:spAutoFit/>
          </a:bodyPr>
          <a:lstStyle/>
          <a:p>
            <a:pPr algn="ctr"/>
            <a:r>
              <a:rPr sz="1300" b="1">
                <a:solidFill>
                  <a:srgbClr val="FFFFFF"/>
                </a:solidFill>
                <a:latin typeface="Calibri"/>
              </a:rPr>
              <a:t>Feature</a:t>
            </a:r>
          </a:p>
        </p:txBody>
      </p:sp>
      <p:sp>
        <p:nvSpPr>
          <p:cNvPr id="36" name="TextBox 35"/>
          <p:cNvSpPr txBox="1"/>
          <p:nvPr/>
        </p:nvSpPr>
        <p:spPr>
          <a:xfrm>
            <a:off x="7360920" y="3593592"/>
            <a:ext cx="2011680" cy="347472"/>
          </a:xfrm>
          <a:prstGeom prst="rect">
            <a:avLst/>
          </a:prstGeom>
          <a:noFill/>
        </p:spPr>
        <p:txBody>
          <a:bodyPr wrap="square">
            <a:spAutoFit/>
          </a:bodyPr>
          <a:lstStyle/>
          <a:p>
            <a:pPr algn="ctr"/>
            <a:r>
              <a:rPr sz="1100" b="0">
                <a:solidFill>
                  <a:srgbClr val="FFFFFF"/>
                </a:solidFill>
                <a:latin typeface="Calibri"/>
              </a:rPr>
              <a:t>f_flow  (B, 512)</a:t>
            </a:r>
          </a:p>
        </p:txBody>
      </p:sp>
      <p:sp>
        <p:nvSpPr>
          <p:cNvPr id="38" name="Rectangle 37"/>
          <p:cNvSpPr/>
          <p:nvPr/>
        </p:nvSpPr>
        <p:spPr>
          <a:xfrm>
            <a:off x="7059168" y="3502152"/>
            <a:ext cx="3017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059168" y="1627632"/>
            <a:ext cx="3017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479792" y="1399032"/>
            <a:ext cx="2011680" cy="822960"/>
          </a:xfrm>
          <a:prstGeom prst="rect">
            <a:avLst/>
          </a:prstGeom>
          <a:solidFill>
            <a:srgbClr val="CC000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34072" y="1522476"/>
            <a:ext cx="2011680" cy="411480"/>
          </a:xfrm>
          <a:prstGeom prst="rect">
            <a:avLst/>
          </a:prstGeom>
          <a:noFill/>
        </p:spPr>
        <p:txBody>
          <a:bodyPr wrap="square">
            <a:spAutoFit/>
          </a:bodyPr>
          <a:lstStyle/>
          <a:p>
            <a:pPr algn="ctr"/>
            <a:r>
              <a:rPr sz="1300" b="1">
                <a:solidFill>
                  <a:srgbClr val="FFFFFF"/>
                </a:solidFill>
                <a:latin typeface="Calibri"/>
              </a:rPr>
              <a:t>Concat</a:t>
            </a:r>
          </a:p>
        </p:txBody>
      </p:sp>
      <p:sp>
        <p:nvSpPr>
          <p:cNvPr id="43" name="TextBox 42"/>
          <p:cNvSpPr txBox="1"/>
          <p:nvPr/>
        </p:nvSpPr>
        <p:spPr>
          <a:xfrm>
            <a:off x="7479792" y="1837944"/>
            <a:ext cx="2011680" cy="347472"/>
          </a:xfrm>
          <a:prstGeom prst="rect">
            <a:avLst/>
          </a:prstGeom>
          <a:noFill/>
        </p:spPr>
        <p:txBody>
          <a:bodyPr wrap="square">
            <a:spAutoFit/>
          </a:bodyPr>
          <a:lstStyle/>
          <a:p>
            <a:pPr algn="ctr"/>
            <a:r>
              <a:rPr sz="1100" b="0">
                <a:solidFill>
                  <a:srgbClr val="FFFFFF"/>
                </a:solidFill>
                <a:latin typeface="Calibri"/>
              </a:rPr>
              <a:t>(B, 1024)</a:t>
            </a:r>
          </a:p>
        </p:txBody>
      </p:sp>
      <p:sp>
        <p:nvSpPr>
          <p:cNvPr id="45" name="Rectangle 44"/>
          <p:cNvSpPr/>
          <p:nvPr/>
        </p:nvSpPr>
        <p:spPr>
          <a:xfrm>
            <a:off x="9593580" y="2267712"/>
            <a:ext cx="2011680" cy="822960"/>
          </a:xfrm>
          <a:prstGeom prst="rect">
            <a:avLst/>
          </a:prstGeom>
          <a:solidFill>
            <a:srgbClr val="CC0000"/>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47860" y="2459736"/>
            <a:ext cx="2011680" cy="685800"/>
          </a:xfrm>
          <a:prstGeom prst="rect">
            <a:avLst/>
          </a:prstGeom>
          <a:noFill/>
        </p:spPr>
        <p:txBody>
          <a:bodyPr wrap="square">
            <a:spAutoFit/>
          </a:bodyPr>
          <a:lstStyle/>
          <a:p>
            <a:pPr algn="ctr"/>
            <a:r>
              <a:rPr sz="1300" b="1">
                <a:solidFill>
                  <a:srgbClr val="FFFFFF"/>
                </a:solidFill>
                <a:latin typeface="Calibri"/>
              </a:rPr>
              <a:t>FC-512 → ReLU
Dropout(0.5)</a:t>
            </a:r>
          </a:p>
        </p:txBody>
      </p:sp>
      <p:sp>
        <p:nvSpPr>
          <p:cNvPr id="48" name="TextBox 47"/>
          <p:cNvSpPr txBox="1"/>
          <p:nvPr/>
        </p:nvSpPr>
        <p:spPr>
          <a:xfrm>
            <a:off x="11650980" y="2479548"/>
            <a:ext cx="661670" cy="461665"/>
          </a:xfrm>
          <a:prstGeom prst="rect">
            <a:avLst/>
          </a:prstGeom>
          <a:noFill/>
        </p:spPr>
        <p:txBody>
          <a:bodyPr wrap="square">
            <a:spAutoFit/>
          </a:bodyPr>
          <a:lstStyle/>
          <a:p>
            <a:pPr algn="l"/>
            <a:r>
              <a:rPr sz="1200" b="1" dirty="0">
                <a:solidFill>
                  <a:srgbClr val="CC0000"/>
                </a:solidFill>
                <a:latin typeface="Calibri"/>
              </a:rPr>
              <a:t>101 classes</a:t>
            </a:r>
          </a:p>
        </p:txBody>
      </p:sp>
      <p:sp>
        <p:nvSpPr>
          <p:cNvPr id="49" name="Rectangle 48"/>
          <p:cNvSpPr/>
          <p:nvPr/>
        </p:nvSpPr>
        <p:spPr>
          <a:xfrm>
            <a:off x="7040880" y="1627632"/>
            <a:ext cx="384048" cy="36576"/>
          </a:xfrm>
          <a:prstGeom prst="rect">
            <a:avLst/>
          </a:prstGeom>
          <a:solidFill>
            <a:srgbClr val="27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040880" y="3502152"/>
            <a:ext cx="384048" cy="36576"/>
          </a:xfrm>
          <a:prstGeom prst="rect">
            <a:avLst/>
          </a:prstGeom>
          <a:solidFill>
            <a:srgbClr val="277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479792" y="1691640"/>
            <a:ext cx="36576" cy="7315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28600" y="4754880"/>
            <a:ext cx="11704320" cy="1664208"/>
          </a:xfrm>
          <a:prstGeom prst="rect">
            <a:avLst/>
          </a:prstGeom>
          <a:solidFill>
            <a:srgbClr val="F4F4F4"/>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11480" y="4846320"/>
            <a:ext cx="10972800" cy="365760"/>
          </a:xfrm>
          <a:prstGeom prst="rect">
            <a:avLst/>
          </a:prstGeom>
          <a:noFill/>
        </p:spPr>
        <p:txBody>
          <a:bodyPr wrap="square">
            <a:spAutoFit/>
          </a:bodyPr>
          <a:lstStyle/>
          <a:p>
            <a:pPr algn="l"/>
            <a:r>
              <a:rPr sz="1300" b="1">
                <a:solidFill>
                  <a:srgbClr val="CC0000"/>
                </a:solidFill>
                <a:latin typeface="Calibri"/>
              </a:rPr>
              <a:t>Key Design Choices</a:t>
            </a:r>
          </a:p>
        </p:txBody>
      </p:sp>
      <p:sp>
        <p:nvSpPr>
          <p:cNvPr id="54" name="TextBox 53"/>
          <p:cNvSpPr txBox="1"/>
          <p:nvPr/>
        </p:nvSpPr>
        <p:spPr>
          <a:xfrm>
            <a:off x="411480" y="5230368"/>
            <a:ext cx="11430000" cy="1005840"/>
          </a:xfrm>
          <a:prstGeom prst="rect">
            <a:avLst/>
          </a:prstGeom>
          <a:noFill/>
        </p:spPr>
        <p:txBody>
          <a:bodyPr wrap="square">
            <a:spAutoFit/>
          </a:bodyPr>
          <a:lstStyle/>
          <a:p>
            <a:pPr algn="l"/>
            <a:r>
              <a:rPr sz="1300" b="0">
                <a:solidFill>
                  <a:srgbClr val="2B2B2B"/>
                </a:solidFill>
                <a:latin typeface="Calibri"/>
              </a:rPr>
              <a:t>RGB: 3D ResNet-18 (spatial stride only; temporal stride = 1 to preserve motion)  ·  Flow: u+v channels × 16 frames = 32-ch input to 2D ResNet-18  ·  Fusion head: concat(512+512) → FC-512 → ReLU → Dropout(0.5) → FC-101</a:t>
            </a:r>
          </a:p>
        </p:txBody>
      </p:sp>
    </p:spTree>
  </p:cSld>
  <p:clrMapOvr>
    <a:masterClrMapping/>
  </p:clrMapOvr>
  <mc:AlternateContent xmlns:mc="http://schemas.openxmlformats.org/markup-compatibility/2006" xmlns:p14="http://schemas.microsoft.com/office/powerpoint/2010/main">
    <mc:Choice Requires="p14">
      <p:transition spd="slow" p14:dur="2000" advTm="85663"/>
    </mc:Choice>
    <mc:Fallback xmlns="">
      <p:transition spd="slow" advTm="8566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Real-Time Inference Strategy</a:t>
            </a:r>
          </a:p>
        </p:txBody>
      </p:sp>
      <p:sp>
        <p:nvSpPr>
          <p:cNvPr id="4" name="TextBox 3"/>
          <p:cNvSpPr txBox="1"/>
          <p:nvPr/>
        </p:nvSpPr>
        <p:spPr>
          <a:xfrm>
            <a:off x="365760" y="713232"/>
            <a:ext cx="10972800" cy="320040"/>
          </a:xfrm>
          <a:prstGeom prst="rect">
            <a:avLst/>
          </a:prstGeom>
          <a:noFill/>
        </p:spPr>
        <p:txBody>
          <a:bodyPr wrap="square">
            <a:spAutoFit/>
          </a:bodyPr>
          <a:lstStyle/>
          <a:p>
            <a:pPr algn="l"/>
            <a:r>
              <a:rPr sz="1400" b="0">
                <a:solidFill>
                  <a:srgbClr val="FFCCCC"/>
                </a:solidFill>
                <a:latin typeface="Calibri"/>
              </a:rPr>
              <a:t>Paper §III.C  |  Target: ≥ 15 FPS on single RTX GPU</a:t>
            </a:r>
          </a:p>
        </p:txBody>
      </p:sp>
      <p:sp>
        <p:nvSpPr>
          <p:cNvPr id="5" name="Rectangle 4"/>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8" name="TextBox 7"/>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5 / 8</a:t>
            </a:r>
          </a:p>
        </p:txBody>
      </p:sp>
      <p:sp>
        <p:nvSpPr>
          <p:cNvPr id="9" name="Rectangle 8"/>
          <p:cNvSpPr/>
          <p:nvPr/>
        </p:nvSpPr>
        <p:spPr>
          <a:xfrm>
            <a:off x="274320" y="1234440"/>
            <a:ext cx="3657600" cy="3657600"/>
          </a:xfrm>
          <a:prstGeom prst="rect">
            <a:avLst/>
          </a:prstGeom>
          <a:solidFill>
            <a:srgbClr val="F4F4F4"/>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371600"/>
            <a:ext cx="3383280" cy="457200"/>
          </a:xfrm>
          <a:prstGeom prst="rect">
            <a:avLst/>
          </a:prstGeom>
          <a:noFill/>
        </p:spPr>
        <p:txBody>
          <a:bodyPr wrap="square">
            <a:spAutoFit/>
          </a:bodyPr>
          <a:lstStyle/>
          <a:p>
            <a:pPr algn="l"/>
            <a:r>
              <a:rPr sz="1500" b="1">
                <a:solidFill>
                  <a:srgbClr val="CC0000"/>
                </a:solidFill>
                <a:latin typeface="Calibri"/>
              </a:rPr>
              <a:t>① 8-Frame Subsampling</a:t>
            </a:r>
          </a:p>
        </p:txBody>
      </p:sp>
      <p:sp>
        <p:nvSpPr>
          <p:cNvPr id="11" name="TextBox 10"/>
          <p:cNvSpPr txBox="1"/>
          <p:nvPr/>
        </p:nvSpPr>
        <p:spPr>
          <a:xfrm>
            <a:off x="411480" y="1874519"/>
            <a:ext cx="3383280" cy="1371600"/>
          </a:xfrm>
          <a:prstGeom prst="rect">
            <a:avLst/>
          </a:prstGeom>
          <a:noFill/>
        </p:spPr>
        <p:txBody>
          <a:bodyPr wrap="square">
            <a:spAutoFit/>
          </a:bodyPr>
          <a:lstStyle/>
          <a:p>
            <a:pPr algn="l"/>
            <a:r>
              <a:rPr sz="1400" b="0">
                <a:solidFill>
                  <a:srgbClr val="2B2B2B"/>
                </a:solidFill>
                <a:latin typeface="Calibri"/>
              </a:rPr>
              <a:t>Every other frame processed
16 frames → 8 effective frames
Halves temporal computation</a:t>
            </a:r>
          </a:p>
        </p:txBody>
      </p:sp>
      <p:sp>
        <p:nvSpPr>
          <p:cNvPr id="12" name="Rectangle 11"/>
          <p:cNvSpPr/>
          <p:nvPr/>
        </p:nvSpPr>
        <p:spPr>
          <a:xfrm>
            <a:off x="411480" y="3291840"/>
            <a:ext cx="3383280" cy="2743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3337560"/>
            <a:ext cx="3383280" cy="274320"/>
          </a:xfrm>
          <a:prstGeom prst="rect">
            <a:avLst/>
          </a:prstGeom>
          <a:noFill/>
        </p:spPr>
        <p:txBody>
          <a:bodyPr wrap="square">
            <a:spAutoFit/>
          </a:bodyPr>
          <a:lstStyle/>
          <a:p>
            <a:pPr algn="l"/>
            <a:r>
              <a:rPr sz="1100" b="1">
                <a:solidFill>
                  <a:srgbClr val="555555"/>
                </a:solidFill>
                <a:latin typeface="Calibri"/>
              </a:rPr>
              <a:t>Accuracy impact:</a:t>
            </a:r>
          </a:p>
        </p:txBody>
      </p:sp>
      <p:sp>
        <p:nvSpPr>
          <p:cNvPr id="14" name="TextBox 13"/>
          <p:cNvSpPr txBox="1"/>
          <p:nvPr/>
        </p:nvSpPr>
        <p:spPr>
          <a:xfrm>
            <a:off x="411480" y="3611880"/>
            <a:ext cx="3383280" cy="914400"/>
          </a:xfrm>
          <a:prstGeom prst="rect">
            <a:avLst/>
          </a:prstGeom>
          <a:noFill/>
        </p:spPr>
        <p:txBody>
          <a:bodyPr wrap="square">
            <a:spAutoFit/>
          </a:bodyPr>
          <a:lstStyle/>
          <a:p>
            <a:pPr algn="l"/>
            <a:r>
              <a:rPr sz="1300" b="0" i="1">
                <a:solidFill>
                  <a:srgbClr val="277A3B"/>
                </a:solidFill>
                <a:latin typeface="Calibri"/>
              </a:rPr>
              <a:t>−1.2 pts Top-1 on Split 1
(89.3% → 88.1%)</a:t>
            </a:r>
          </a:p>
        </p:txBody>
      </p:sp>
      <p:sp>
        <p:nvSpPr>
          <p:cNvPr id="15" name="Rectangle 14"/>
          <p:cNvSpPr/>
          <p:nvPr/>
        </p:nvSpPr>
        <p:spPr>
          <a:xfrm>
            <a:off x="4206240" y="1234440"/>
            <a:ext cx="3657600" cy="3657600"/>
          </a:xfrm>
          <a:prstGeom prst="rect">
            <a:avLst/>
          </a:prstGeom>
          <a:solidFill>
            <a:srgbClr val="F4F4F4"/>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43400" y="1371600"/>
            <a:ext cx="3383280" cy="457200"/>
          </a:xfrm>
          <a:prstGeom prst="rect">
            <a:avLst/>
          </a:prstGeom>
          <a:noFill/>
        </p:spPr>
        <p:txBody>
          <a:bodyPr wrap="square">
            <a:spAutoFit/>
          </a:bodyPr>
          <a:lstStyle/>
          <a:p>
            <a:pPr algn="l"/>
            <a:r>
              <a:rPr sz="1500" b="1">
                <a:solidFill>
                  <a:srgbClr val="CC0000"/>
                </a:solidFill>
                <a:latin typeface="Calibri"/>
              </a:rPr>
              <a:t>② Resolution Reduction</a:t>
            </a:r>
          </a:p>
        </p:txBody>
      </p:sp>
      <p:sp>
        <p:nvSpPr>
          <p:cNvPr id="17" name="TextBox 16"/>
          <p:cNvSpPr txBox="1"/>
          <p:nvPr/>
        </p:nvSpPr>
        <p:spPr>
          <a:xfrm>
            <a:off x="4343400" y="1874519"/>
            <a:ext cx="3383280" cy="1371600"/>
          </a:xfrm>
          <a:prstGeom prst="rect">
            <a:avLst/>
          </a:prstGeom>
          <a:noFill/>
        </p:spPr>
        <p:txBody>
          <a:bodyPr wrap="square">
            <a:spAutoFit/>
          </a:bodyPr>
          <a:lstStyle/>
          <a:p>
            <a:pPr algn="l"/>
            <a:r>
              <a:rPr sz="1400" b="0">
                <a:solidFill>
                  <a:srgbClr val="2B2B2B"/>
                </a:solidFill>
                <a:latin typeface="Calibri"/>
              </a:rPr>
              <a:t>224×224  →  112×112
Halves spatial dimensions
4× fewer pixels per frame</a:t>
            </a:r>
          </a:p>
        </p:txBody>
      </p:sp>
      <p:sp>
        <p:nvSpPr>
          <p:cNvPr id="18" name="Rectangle 17"/>
          <p:cNvSpPr/>
          <p:nvPr/>
        </p:nvSpPr>
        <p:spPr>
          <a:xfrm>
            <a:off x="4343400" y="3291840"/>
            <a:ext cx="3383280" cy="2743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3337560"/>
            <a:ext cx="3383280" cy="274320"/>
          </a:xfrm>
          <a:prstGeom prst="rect">
            <a:avLst/>
          </a:prstGeom>
          <a:noFill/>
        </p:spPr>
        <p:txBody>
          <a:bodyPr wrap="square">
            <a:spAutoFit/>
          </a:bodyPr>
          <a:lstStyle/>
          <a:p>
            <a:pPr algn="l"/>
            <a:r>
              <a:rPr sz="1100" b="1">
                <a:solidFill>
                  <a:srgbClr val="555555"/>
                </a:solidFill>
                <a:latin typeface="Calibri"/>
              </a:rPr>
              <a:t>Accuracy impact:</a:t>
            </a:r>
          </a:p>
        </p:txBody>
      </p:sp>
      <p:sp>
        <p:nvSpPr>
          <p:cNvPr id="20" name="TextBox 19"/>
          <p:cNvSpPr txBox="1"/>
          <p:nvPr/>
        </p:nvSpPr>
        <p:spPr>
          <a:xfrm>
            <a:off x="4343400" y="3611880"/>
            <a:ext cx="3383280" cy="914400"/>
          </a:xfrm>
          <a:prstGeom prst="rect">
            <a:avLst/>
          </a:prstGeom>
          <a:noFill/>
        </p:spPr>
        <p:txBody>
          <a:bodyPr wrap="square">
            <a:spAutoFit/>
          </a:bodyPr>
          <a:lstStyle/>
          <a:p>
            <a:pPr algn="l"/>
            <a:r>
              <a:rPr sz="1300" b="0" i="1">
                <a:solidFill>
                  <a:srgbClr val="277A3B"/>
                </a:solidFill>
                <a:latin typeface="Calibri"/>
              </a:rPr>
              <a:t>Negligible accuracy loss
for motion discriminability</a:t>
            </a:r>
          </a:p>
        </p:txBody>
      </p:sp>
      <p:sp>
        <p:nvSpPr>
          <p:cNvPr id="21" name="Rectangle 20"/>
          <p:cNvSpPr/>
          <p:nvPr/>
        </p:nvSpPr>
        <p:spPr>
          <a:xfrm>
            <a:off x="8138160" y="1234440"/>
            <a:ext cx="3657600" cy="3657600"/>
          </a:xfrm>
          <a:prstGeom prst="rect">
            <a:avLst/>
          </a:prstGeom>
          <a:solidFill>
            <a:srgbClr val="F4F4F4"/>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5320" y="1371600"/>
            <a:ext cx="3383280" cy="457200"/>
          </a:xfrm>
          <a:prstGeom prst="rect">
            <a:avLst/>
          </a:prstGeom>
          <a:noFill/>
        </p:spPr>
        <p:txBody>
          <a:bodyPr wrap="square">
            <a:spAutoFit/>
          </a:bodyPr>
          <a:lstStyle/>
          <a:p>
            <a:pPr algn="l"/>
            <a:r>
              <a:rPr sz="1500" b="1">
                <a:solidFill>
                  <a:srgbClr val="CC0000"/>
                </a:solidFill>
                <a:latin typeface="Calibri"/>
              </a:rPr>
              <a:t>③ FP16 Inference</a:t>
            </a:r>
          </a:p>
        </p:txBody>
      </p:sp>
      <p:sp>
        <p:nvSpPr>
          <p:cNvPr id="23" name="TextBox 22"/>
          <p:cNvSpPr txBox="1"/>
          <p:nvPr/>
        </p:nvSpPr>
        <p:spPr>
          <a:xfrm>
            <a:off x="8275320" y="1874519"/>
            <a:ext cx="3383280" cy="1371600"/>
          </a:xfrm>
          <a:prstGeom prst="rect">
            <a:avLst/>
          </a:prstGeom>
          <a:noFill/>
        </p:spPr>
        <p:txBody>
          <a:bodyPr wrap="square">
            <a:spAutoFit/>
          </a:bodyPr>
          <a:lstStyle/>
          <a:p>
            <a:pPr algn="l"/>
            <a:r>
              <a:rPr sz="1400" b="0">
                <a:solidFill>
                  <a:srgbClr val="2B2B2B"/>
                </a:solidFill>
                <a:latin typeface="Calibri"/>
              </a:rPr>
              <a:t>PyTorch AMP (torch.cuda.amp)
Halves memory bandwidth
Free on modern NVIDIA GPUs</a:t>
            </a:r>
          </a:p>
        </p:txBody>
      </p:sp>
      <p:sp>
        <p:nvSpPr>
          <p:cNvPr id="24" name="Rectangle 23"/>
          <p:cNvSpPr/>
          <p:nvPr/>
        </p:nvSpPr>
        <p:spPr>
          <a:xfrm>
            <a:off x="8275320" y="3291840"/>
            <a:ext cx="3383280" cy="2743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75320" y="3337560"/>
            <a:ext cx="3383280" cy="274320"/>
          </a:xfrm>
          <a:prstGeom prst="rect">
            <a:avLst/>
          </a:prstGeom>
          <a:noFill/>
        </p:spPr>
        <p:txBody>
          <a:bodyPr wrap="square">
            <a:spAutoFit/>
          </a:bodyPr>
          <a:lstStyle/>
          <a:p>
            <a:pPr algn="l"/>
            <a:r>
              <a:rPr sz="1100" b="1">
                <a:solidFill>
                  <a:srgbClr val="555555"/>
                </a:solidFill>
                <a:latin typeface="Calibri"/>
              </a:rPr>
              <a:t>Accuracy impact:</a:t>
            </a:r>
          </a:p>
        </p:txBody>
      </p:sp>
      <p:sp>
        <p:nvSpPr>
          <p:cNvPr id="26" name="TextBox 25"/>
          <p:cNvSpPr txBox="1"/>
          <p:nvPr/>
        </p:nvSpPr>
        <p:spPr>
          <a:xfrm>
            <a:off x="8275320" y="3611880"/>
            <a:ext cx="3383280" cy="914400"/>
          </a:xfrm>
          <a:prstGeom prst="rect">
            <a:avLst/>
          </a:prstGeom>
          <a:noFill/>
        </p:spPr>
        <p:txBody>
          <a:bodyPr wrap="square">
            <a:spAutoFit/>
          </a:bodyPr>
          <a:lstStyle/>
          <a:p>
            <a:pPr algn="l"/>
            <a:r>
              <a:rPr sz="1300" b="0" i="1">
                <a:solidFill>
                  <a:srgbClr val="277A3B"/>
                </a:solidFill>
                <a:latin typeface="Calibri"/>
              </a:rPr>
              <a:t>0.0 pts accuracy loss
(FP32: 88.1% = FP16: 88.1%)</a:t>
            </a:r>
          </a:p>
        </p:txBody>
      </p:sp>
      <p:sp>
        <p:nvSpPr>
          <p:cNvPr id="27" name="Rectangle 26"/>
          <p:cNvSpPr/>
          <p:nvPr/>
        </p:nvSpPr>
        <p:spPr>
          <a:xfrm>
            <a:off x="274320" y="5074920"/>
            <a:ext cx="11612880" cy="12618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138928"/>
            <a:ext cx="10972800" cy="347472"/>
          </a:xfrm>
          <a:prstGeom prst="rect">
            <a:avLst/>
          </a:prstGeom>
          <a:noFill/>
        </p:spPr>
        <p:txBody>
          <a:bodyPr wrap="square">
            <a:spAutoFit/>
          </a:bodyPr>
          <a:lstStyle/>
          <a:p>
            <a:pPr algn="l"/>
            <a:r>
              <a:rPr sz="1400" b="1">
                <a:solidFill>
                  <a:srgbClr val="FFFFFF"/>
                </a:solidFill>
                <a:latin typeface="Calibri"/>
              </a:rPr>
              <a:t>Combined Effect</a:t>
            </a:r>
          </a:p>
        </p:txBody>
      </p:sp>
      <p:sp>
        <p:nvSpPr>
          <p:cNvPr id="29" name="TextBox 28"/>
          <p:cNvSpPr txBox="1"/>
          <p:nvPr/>
        </p:nvSpPr>
        <p:spPr>
          <a:xfrm>
            <a:off x="457200" y="5504688"/>
            <a:ext cx="11430000" cy="777240"/>
          </a:xfrm>
          <a:prstGeom prst="rect">
            <a:avLst/>
          </a:prstGeom>
          <a:noFill/>
        </p:spPr>
        <p:txBody>
          <a:bodyPr wrap="square">
            <a:spAutoFit/>
          </a:bodyPr>
          <a:lstStyle/>
          <a:p>
            <a:pPr algn="l"/>
            <a:r>
              <a:rPr sz="1300" b="0">
                <a:solidFill>
                  <a:srgbClr val="FFFFFF"/>
                </a:solidFill>
                <a:latin typeface="Calibri"/>
              </a:rPr>
              <a:t>~110 ms / clip  →  43.9 ms / clip  =  22.8 FPS   (target: ≥ 15 FPS  ✓)
Frame decode: 5.2 ms  |  Farneback flow: 18.7 ms  |  RGB branch: 14.3 ms  |  Flow branch: 10.1 ms  |  Fusion FC: 7.6 ms  →  Sequential total: 55.9 ms  →  Async + FP16: 43.9 ms  (saves 12 ms)</a:t>
            </a:r>
          </a:p>
        </p:txBody>
      </p:sp>
      <p:sp>
        <p:nvSpPr>
          <p:cNvPr id="30" name="TextBox 29"/>
          <p:cNvSpPr txBox="1"/>
          <p:nvPr/>
        </p:nvSpPr>
        <p:spPr>
          <a:xfrm>
            <a:off x="274320" y="4873752"/>
            <a:ext cx="11612880" cy="347472"/>
          </a:xfrm>
          <a:prstGeom prst="rect">
            <a:avLst/>
          </a:prstGeom>
          <a:noFill/>
        </p:spPr>
        <p:txBody>
          <a:bodyPr wrap="square">
            <a:spAutoFit/>
          </a:bodyPr>
          <a:lstStyle/>
          <a:p>
            <a:pPr algn="ctr"/>
            <a:r>
              <a:rPr sz="1100" b="0" i="1">
                <a:solidFill>
                  <a:srgbClr val="555555"/>
                </a:solidFill>
                <a:latin typeface="Calibri"/>
              </a:rPr>
              <a:t>Sequential total: 5.2 + 18.7 + 14.3 + 10.1 + 7.6 = 55.9 ms  →  Async pipeline + FP16 = 43.9 ms  (12 ms saved from parallelising flow with RGB inference)</a:t>
            </a:r>
          </a:p>
        </p:txBody>
      </p:sp>
    </p:spTree>
  </p:cSld>
  <p:clrMapOvr>
    <a:masterClrMapping/>
  </p:clrMapOvr>
  <mc:AlternateContent xmlns:mc="http://schemas.openxmlformats.org/markup-compatibility/2006" xmlns:p14="http://schemas.microsoft.com/office/powerpoint/2010/main">
    <mc:Choice Requires="p14">
      <p:transition spd="slow" p14:dur="2000" advTm="8119"/>
    </mc:Choice>
    <mc:Fallback xmlns="">
      <p:transition spd="slow" advTm="811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Dataset &amp; Training Setup</a:t>
            </a:r>
          </a:p>
        </p:txBody>
      </p:sp>
      <p:sp>
        <p:nvSpPr>
          <p:cNvPr id="4" name="Rectangle 3"/>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7" name="TextBox 6"/>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6 / 8</a:t>
            </a:r>
          </a:p>
        </p:txBody>
      </p:sp>
      <p:sp>
        <p:nvSpPr>
          <p:cNvPr id="8" name="Rectangle 7"/>
          <p:cNvSpPr/>
          <p:nvPr/>
        </p:nvSpPr>
        <p:spPr>
          <a:xfrm>
            <a:off x="274320" y="1234440"/>
            <a:ext cx="5303520" cy="507492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371600"/>
            <a:ext cx="4937760" cy="438912"/>
          </a:xfrm>
          <a:prstGeom prst="rect">
            <a:avLst/>
          </a:prstGeom>
          <a:noFill/>
        </p:spPr>
        <p:txBody>
          <a:bodyPr wrap="square">
            <a:spAutoFit/>
          </a:bodyPr>
          <a:lstStyle/>
          <a:p>
            <a:pPr algn="l"/>
            <a:r>
              <a:rPr sz="1800" b="1">
                <a:solidFill>
                  <a:srgbClr val="CC0000"/>
                </a:solidFill>
                <a:latin typeface="Calibri"/>
              </a:rPr>
              <a:t>UCF-101 Dataset</a:t>
            </a:r>
          </a:p>
        </p:txBody>
      </p:sp>
      <p:sp>
        <p:nvSpPr>
          <p:cNvPr id="10" name="TextBox 9"/>
          <p:cNvSpPr txBox="1"/>
          <p:nvPr/>
        </p:nvSpPr>
        <p:spPr>
          <a:xfrm>
            <a:off x="502920" y="1920240"/>
            <a:ext cx="1280160" cy="457200"/>
          </a:xfrm>
          <a:prstGeom prst="rect">
            <a:avLst/>
          </a:prstGeom>
          <a:noFill/>
        </p:spPr>
        <p:txBody>
          <a:bodyPr wrap="square">
            <a:spAutoFit/>
          </a:bodyPr>
          <a:lstStyle/>
          <a:p>
            <a:pPr algn="r"/>
            <a:r>
              <a:rPr sz="2200" b="1">
                <a:solidFill>
                  <a:srgbClr val="1F5EAA"/>
                </a:solidFill>
                <a:latin typeface="Calibri"/>
              </a:rPr>
              <a:t>13,320</a:t>
            </a:r>
          </a:p>
        </p:txBody>
      </p:sp>
      <p:sp>
        <p:nvSpPr>
          <p:cNvPr id="11" name="TextBox 10"/>
          <p:cNvSpPr txBox="1"/>
          <p:nvPr/>
        </p:nvSpPr>
        <p:spPr>
          <a:xfrm>
            <a:off x="1874519" y="1956816"/>
            <a:ext cx="3566160" cy="365760"/>
          </a:xfrm>
          <a:prstGeom prst="rect">
            <a:avLst/>
          </a:prstGeom>
          <a:noFill/>
        </p:spPr>
        <p:txBody>
          <a:bodyPr wrap="square">
            <a:spAutoFit/>
          </a:bodyPr>
          <a:lstStyle/>
          <a:p>
            <a:pPr algn="l"/>
            <a:r>
              <a:rPr sz="1400" b="0">
                <a:solidFill>
                  <a:srgbClr val="2B2B2B"/>
                </a:solidFill>
                <a:latin typeface="Calibri"/>
              </a:rPr>
              <a:t>Total video clips</a:t>
            </a:r>
          </a:p>
        </p:txBody>
      </p:sp>
      <p:sp>
        <p:nvSpPr>
          <p:cNvPr id="12" name="TextBox 11"/>
          <p:cNvSpPr txBox="1"/>
          <p:nvPr/>
        </p:nvSpPr>
        <p:spPr>
          <a:xfrm>
            <a:off x="502920" y="2578608"/>
            <a:ext cx="1280160" cy="457200"/>
          </a:xfrm>
          <a:prstGeom prst="rect">
            <a:avLst/>
          </a:prstGeom>
          <a:noFill/>
        </p:spPr>
        <p:txBody>
          <a:bodyPr wrap="square">
            <a:spAutoFit/>
          </a:bodyPr>
          <a:lstStyle/>
          <a:p>
            <a:pPr algn="r"/>
            <a:r>
              <a:rPr sz="2200" b="1">
                <a:solidFill>
                  <a:srgbClr val="1F5EAA"/>
                </a:solidFill>
                <a:latin typeface="Calibri"/>
              </a:rPr>
              <a:t>101</a:t>
            </a:r>
          </a:p>
        </p:txBody>
      </p:sp>
      <p:sp>
        <p:nvSpPr>
          <p:cNvPr id="13" name="TextBox 12"/>
          <p:cNvSpPr txBox="1"/>
          <p:nvPr/>
        </p:nvSpPr>
        <p:spPr>
          <a:xfrm>
            <a:off x="1874519" y="2615184"/>
            <a:ext cx="3566160" cy="365760"/>
          </a:xfrm>
          <a:prstGeom prst="rect">
            <a:avLst/>
          </a:prstGeom>
          <a:noFill/>
        </p:spPr>
        <p:txBody>
          <a:bodyPr wrap="square">
            <a:spAutoFit/>
          </a:bodyPr>
          <a:lstStyle/>
          <a:p>
            <a:pPr algn="l"/>
            <a:r>
              <a:rPr sz="1400" b="0">
                <a:solidFill>
                  <a:srgbClr val="2B2B2B"/>
                </a:solidFill>
                <a:latin typeface="Calibri"/>
              </a:rPr>
              <a:t>Action categories</a:t>
            </a:r>
          </a:p>
        </p:txBody>
      </p:sp>
      <p:sp>
        <p:nvSpPr>
          <p:cNvPr id="14" name="TextBox 13"/>
          <p:cNvSpPr txBox="1"/>
          <p:nvPr/>
        </p:nvSpPr>
        <p:spPr>
          <a:xfrm>
            <a:off x="502920" y="3236976"/>
            <a:ext cx="1280160" cy="457200"/>
          </a:xfrm>
          <a:prstGeom prst="rect">
            <a:avLst/>
          </a:prstGeom>
          <a:noFill/>
        </p:spPr>
        <p:txBody>
          <a:bodyPr wrap="square">
            <a:spAutoFit/>
          </a:bodyPr>
          <a:lstStyle/>
          <a:p>
            <a:pPr algn="r"/>
            <a:r>
              <a:rPr sz="2200" b="1">
                <a:solidFill>
                  <a:srgbClr val="1F5EAA"/>
                </a:solidFill>
                <a:latin typeface="Calibri"/>
              </a:rPr>
              <a:t>3</a:t>
            </a:r>
          </a:p>
        </p:txBody>
      </p:sp>
      <p:sp>
        <p:nvSpPr>
          <p:cNvPr id="15" name="TextBox 14"/>
          <p:cNvSpPr txBox="1"/>
          <p:nvPr/>
        </p:nvSpPr>
        <p:spPr>
          <a:xfrm>
            <a:off x="1874519" y="3273552"/>
            <a:ext cx="3566160" cy="365760"/>
          </a:xfrm>
          <a:prstGeom prst="rect">
            <a:avLst/>
          </a:prstGeom>
          <a:noFill/>
        </p:spPr>
        <p:txBody>
          <a:bodyPr wrap="square">
            <a:spAutoFit/>
          </a:bodyPr>
          <a:lstStyle/>
          <a:p>
            <a:pPr algn="l"/>
            <a:r>
              <a:rPr sz="1400" b="0">
                <a:solidFill>
                  <a:srgbClr val="2B2B2B"/>
                </a:solidFill>
                <a:latin typeface="Calibri"/>
              </a:rPr>
              <a:t>Official train/test splits</a:t>
            </a:r>
          </a:p>
        </p:txBody>
      </p:sp>
      <p:sp>
        <p:nvSpPr>
          <p:cNvPr id="16" name="TextBox 15"/>
          <p:cNvSpPr txBox="1"/>
          <p:nvPr/>
        </p:nvSpPr>
        <p:spPr>
          <a:xfrm>
            <a:off x="502920" y="3895344"/>
            <a:ext cx="1280160" cy="457200"/>
          </a:xfrm>
          <a:prstGeom prst="rect">
            <a:avLst/>
          </a:prstGeom>
          <a:noFill/>
        </p:spPr>
        <p:txBody>
          <a:bodyPr wrap="square">
            <a:spAutoFit/>
          </a:bodyPr>
          <a:lstStyle/>
          <a:p>
            <a:pPr algn="r"/>
            <a:r>
              <a:rPr sz="2200" b="1">
                <a:solidFill>
                  <a:srgbClr val="1F5EAA"/>
                </a:solidFill>
                <a:latin typeface="Calibri"/>
              </a:rPr>
              <a:t>~9,537</a:t>
            </a:r>
          </a:p>
        </p:txBody>
      </p:sp>
      <p:sp>
        <p:nvSpPr>
          <p:cNvPr id="17" name="TextBox 16"/>
          <p:cNvSpPr txBox="1"/>
          <p:nvPr/>
        </p:nvSpPr>
        <p:spPr>
          <a:xfrm>
            <a:off x="1874519" y="3931920"/>
            <a:ext cx="3566160" cy="365760"/>
          </a:xfrm>
          <a:prstGeom prst="rect">
            <a:avLst/>
          </a:prstGeom>
          <a:noFill/>
        </p:spPr>
        <p:txBody>
          <a:bodyPr wrap="square">
            <a:spAutoFit/>
          </a:bodyPr>
          <a:lstStyle/>
          <a:p>
            <a:pPr algn="l"/>
            <a:r>
              <a:rPr sz="1400" b="0">
                <a:solidFill>
                  <a:srgbClr val="2B2B2B"/>
                </a:solidFill>
                <a:latin typeface="Calibri"/>
              </a:rPr>
              <a:t>Training clips (split 1)</a:t>
            </a:r>
          </a:p>
        </p:txBody>
      </p:sp>
      <p:sp>
        <p:nvSpPr>
          <p:cNvPr id="18" name="TextBox 17"/>
          <p:cNvSpPr txBox="1"/>
          <p:nvPr/>
        </p:nvSpPr>
        <p:spPr>
          <a:xfrm>
            <a:off x="502920" y="4553712"/>
            <a:ext cx="1280160" cy="457200"/>
          </a:xfrm>
          <a:prstGeom prst="rect">
            <a:avLst/>
          </a:prstGeom>
          <a:noFill/>
        </p:spPr>
        <p:txBody>
          <a:bodyPr wrap="square">
            <a:spAutoFit/>
          </a:bodyPr>
          <a:lstStyle/>
          <a:p>
            <a:pPr algn="r"/>
            <a:r>
              <a:rPr sz="2200" b="1">
                <a:solidFill>
                  <a:srgbClr val="1F5EAA"/>
                </a:solidFill>
                <a:latin typeface="Calibri"/>
              </a:rPr>
              <a:t>~3,783</a:t>
            </a:r>
          </a:p>
        </p:txBody>
      </p:sp>
      <p:sp>
        <p:nvSpPr>
          <p:cNvPr id="19" name="TextBox 18"/>
          <p:cNvSpPr txBox="1"/>
          <p:nvPr/>
        </p:nvSpPr>
        <p:spPr>
          <a:xfrm>
            <a:off x="1874519" y="4590288"/>
            <a:ext cx="3566160" cy="365760"/>
          </a:xfrm>
          <a:prstGeom prst="rect">
            <a:avLst/>
          </a:prstGeom>
          <a:noFill/>
        </p:spPr>
        <p:txBody>
          <a:bodyPr wrap="square">
            <a:spAutoFit/>
          </a:bodyPr>
          <a:lstStyle/>
          <a:p>
            <a:pPr algn="l"/>
            <a:r>
              <a:rPr sz="1400" b="0">
                <a:solidFill>
                  <a:srgbClr val="2B2B2B"/>
                </a:solidFill>
                <a:latin typeface="Calibri"/>
              </a:rPr>
              <a:t>Test clips (split 1)</a:t>
            </a:r>
          </a:p>
        </p:txBody>
      </p:sp>
      <p:sp>
        <p:nvSpPr>
          <p:cNvPr id="20" name="TextBox 19"/>
          <p:cNvSpPr txBox="1"/>
          <p:nvPr/>
        </p:nvSpPr>
        <p:spPr>
          <a:xfrm>
            <a:off x="502920" y="5212080"/>
            <a:ext cx="4937760" cy="411480"/>
          </a:xfrm>
          <a:prstGeom prst="rect">
            <a:avLst/>
          </a:prstGeom>
          <a:noFill/>
        </p:spPr>
        <p:txBody>
          <a:bodyPr wrap="square">
            <a:spAutoFit/>
          </a:bodyPr>
          <a:lstStyle/>
          <a:p>
            <a:pPr algn="l"/>
            <a:r>
              <a:rPr sz="1200" b="0" i="1">
                <a:solidFill>
                  <a:srgbClr val="555555"/>
                </a:solidFill>
                <a:latin typeface="Calibri"/>
              </a:rPr>
              <a:t>Evaluation: mean Top-1 / Top-5 across all 3 splits</a:t>
            </a:r>
          </a:p>
        </p:txBody>
      </p:sp>
      <p:sp>
        <p:nvSpPr>
          <p:cNvPr id="21" name="Rectangle 20"/>
          <p:cNvSpPr/>
          <p:nvPr/>
        </p:nvSpPr>
        <p:spPr>
          <a:xfrm>
            <a:off x="5852160" y="1234440"/>
            <a:ext cx="6080760" cy="5074920"/>
          </a:xfrm>
          <a:prstGeom prst="rect">
            <a:avLst/>
          </a:prstGeom>
          <a:solidFill>
            <a:srgbClr val="F4F4F4"/>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5040" y="1371600"/>
            <a:ext cx="5760720" cy="438912"/>
          </a:xfrm>
          <a:prstGeom prst="rect">
            <a:avLst/>
          </a:prstGeom>
          <a:noFill/>
        </p:spPr>
        <p:txBody>
          <a:bodyPr wrap="square">
            <a:spAutoFit/>
          </a:bodyPr>
          <a:lstStyle/>
          <a:p>
            <a:pPr algn="l"/>
            <a:r>
              <a:rPr sz="1800" b="1">
                <a:solidFill>
                  <a:srgbClr val="CC0000"/>
                </a:solidFill>
                <a:latin typeface="Calibri"/>
              </a:rPr>
              <a:t>Training Configuration</a:t>
            </a:r>
          </a:p>
        </p:txBody>
      </p:sp>
      <p:sp>
        <p:nvSpPr>
          <p:cNvPr id="23" name="TextBox 22"/>
          <p:cNvSpPr txBox="1"/>
          <p:nvPr/>
        </p:nvSpPr>
        <p:spPr>
          <a:xfrm>
            <a:off x="6035040" y="1920240"/>
            <a:ext cx="2103120" cy="384048"/>
          </a:xfrm>
          <a:prstGeom prst="rect">
            <a:avLst/>
          </a:prstGeom>
          <a:noFill/>
        </p:spPr>
        <p:txBody>
          <a:bodyPr wrap="square">
            <a:spAutoFit/>
          </a:bodyPr>
          <a:lstStyle/>
          <a:p>
            <a:pPr algn="l"/>
            <a:r>
              <a:rPr sz="1300" b="1">
                <a:solidFill>
                  <a:srgbClr val="2B2B2B"/>
                </a:solidFill>
                <a:latin typeface="Calibri"/>
              </a:rPr>
              <a:t>Optimizer:</a:t>
            </a:r>
          </a:p>
        </p:txBody>
      </p:sp>
      <p:sp>
        <p:nvSpPr>
          <p:cNvPr id="24" name="TextBox 23"/>
          <p:cNvSpPr txBox="1"/>
          <p:nvPr/>
        </p:nvSpPr>
        <p:spPr>
          <a:xfrm>
            <a:off x="8183879" y="1920240"/>
            <a:ext cx="3657600" cy="384048"/>
          </a:xfrm>
          <a:prstGeom prst="rect">
            <a:avLst/>
          </a:prstGeom>
          <a:noFill/>
        </p:spPr>
        <p:txBody>
          <a:bodyPr wrap="square">
            <a:spAutoFit/>
          </a:bodyPr>
          <a:lstStyle/>
          <a:p>
            <a:pPr algn="l"/>
            <a:r>
              <a:rPr sz="1300" b="0">
                <a:solidFill>
                  <a:srgbClr val="555555"/>
                </a:solidFill>
                <a:latin typeface="Calibri"/>
              </a:rPr>
              <a:t>SGD  (momentum 0.9)</a:t>
            </a:r>
          </a:p>
        </p:txBody>
      </p:sp>
      <p:sp>
        <p:nvSpPr>
          <p:cNvPr id="25" name="TextBox 24"/>
          <p:cNvSpPr txBox="1"/>
          <p:nvPr/>
        </p:nvSpPr>
        <p:spPr>
          <a:xfrm>
            <a:off x="6035040" y="2350008"/>
            <a:ext cx="2103120" cy="384048"/>
          </a:xfrm>
          <a:prstGeom prst="rect">
            <a:avLst/>
          </a:prstGeom>
          <a:noFill/>
        </p:spPr>
        <p:txBody>
          <a:bodyPr wrap="square">
            <a:spAutoFit/>
          </a:bodyPr>
          <a:lstStyle/>
          <a:p>
            <a:pPr algn="l"/>
            <a:r>
              <a:rPr sz="1300" b="1">
                <a:solidFill>
                  <a:srgbClr val="2B2B2B"/>
                </a:solidFill>
                <a:latin typeface="Calibri"/>
              </a:rPr>
              <a:t>Learning rate:</a:t>
            </a:r>
          </a:p>
        </p:txBody>
      </p:sp>
      <p:sp>
        <p:nvSpPr>
          <p:cNvPr id="26" name="TextBox 25"/>
          <p:cNvSpPr txBox="1"/>
          <p:nvPr/>
        </p:nvSpPr>
        <p:spPr>
          <a:xfrm>
            <a:off x="8183879" y="2350008"/>
            <a:ext cx="3657600" cy="384048"/>
          </a:xfrm>
          <a:prstGeom prst="rect">
            <a:avLst/>
          </a:prstGeom>
          <a:noFill/>
        </p:spPr>
        <p:txBody>
          <a:bodyPr wrap="square">
            <a:spAutoFit/>
          </a:bodyPr>
          <a:lstStyle/>
          <a:p>
            <a:pPr algn="l"/>
            <a:r>
              <a:rPr sz="1300" b="0">
                <a:solidFill>
                  <a:srgbClr val="555555"/>
                </a:solidFill>
                <a:latin typeface="Calibri"/>
              </a:rPr>
              <a:t>0.001  ×0.1 at epochs 30 &amp; 45</a:t>
            </a:r>
          </a:p>
        </p:txBody>
      </p:sp>
      <p:sp>
        <p:nvSpPr>
          <p:cNvPr id="27" name="TextBox 26"/>
          <p:cNvSpPr txBox="1"/>
          <p:nvPr/>
        </p:nvSpPr>
        <p:spPr>
          <a:xfrm>
            <a:off x="6035040" y="2779776"/>
            <a:ext cx="2103120" cy="384048"/>
          </a:xfrm>
          <a:prstGeom prst="rect">
            <a:avLst/>
          </a:prstGeom>
          <a:noFill/>
        </p:spPr>
        <p:txBody>
          <a:bodyPr wrap="square">
            <a:spAutoFit/>
          </a:bodyPr>
          <a:lstStyle/>
          <a:p>
            <a:pPr algn="l"/>
            <a:r>
              <a:rPr sz="1300" b="1">
                <a:solidFill>
                  <a:srgbClr val="2B2B2B"/>
                </a:solidFill>
                <a:latin typeface="Calibri"/>
              </a:rPr>
              <a:t>Weight decay:</a:t>
            </a:r>
          </a:p>
        </p:txBody>
      </p:sp>
      <p:sp>
        <p:nvSpPr>
          <p:cNvPr id="28" name="TextBox 27"/>
          <p:cNvSpPr txBox="1"/>
          <p:nvPr/>
        </p:nvSpPr>
        <p:spPr>
          <a:xfrm>
            <a:off x="8183879" y="2779776"/>
            <a:ext cx="3657600" cy="384048"/>
          </a:xfrm>
          <a:prstGeom prst="rect">
            <a:avLst/>
          </a:prstGeom>
          <a:noFill/>
        </p:spPr>
        <p:txBody>
          <a:bodyPr wrap="square">
            <a:spAutoFit/>
          </a:bodyPr>
          <a:lstStyle/>
          <a:p>
            <a:pPr algn="l"/>
            <a:r>
              <a:rPr sz="1300" b="0">
                <a:solidFill>
                  <a:srgbClr val="555555"/>
                </a:solidFill>
                <a:latin typeface="Calibri"/>
              </a:rPr>
              <a:t>5 × 10⁻⁴</a:t>
            </a:r>
          </a:p>
        </p:txBody>
      </p:sp>
      <p:sp>
        <p:nvSpPr>
          <p:cNvPr id="29" name="TextBox 28"/>
          <p:cNvSpPr txBox="1"/>
          <p:nvPr/>
        </p:nvSpPr>
        <p:spPr>
          <a:xfrm>
            <a:off x="6035040" y="3209544"/>
            <a:ext cx="2103120" cy="384048"/>
          </a:xfrm>
          <a:prstGeom prst="rect">
            <a:avLst/>
          </a:prstGeom>
          <a:noFill/>
        </p:spPr>
        <p:txBody>
          <a:bodyPr wrap="square">
            <a:spAutoFit/>
          </a:bodyPr>
          <a:lstStyle/>
          <a:p>
            <a:pPr algn="l"/>
            <a:r>
              <a:rPr sz="1300" b="1">
                <a:solidFill>
                  <a:srgbClr val="2B2B2B"/>
                </a:solidFill>
                <a:latin typeface="Calibri"/>
              </a:rPr>
              <a:t>Batch size:</a:t>
            </a:r>
          </a:p>
        </p:txBody>
      </p:sp>
      <p:sp>
        <p:nvSpPr>
          <p:cNvPr id="30" name="TextBox 29"/>
          <p:cNvSpPr txBox="1"/>
          <p:nvPr/>
        </p:nvSpPr>
        <p:spPr>
          <a:xfrm>
            <a:off x="8183879" y="3209544"/>
            <a:ext cx="3657600" cy="384048"/>
          </a:xfrm>
          <a:prstGeom prst="rect">
            <a:avLst/>
          </a:prstGeom>
          <a:noFill/>
        </p:spPr>
        <p:txBody>
          <a:bodyPr wrap="square">
            <a:spAutoFit/>
          </a:bodyPr>
          <a:lstStyle/>
          <a:p>
            <a:pPr algn="l"/>
            <a:r>
              <a:rPr sz="1300" b="0">
                <a:solidFill>
                  <a:srgbClr val="555555"/>
                </a:solidFill>
                <a:latin typeface="Calibri"/>
              </a:rPr>
              <a:t>32  (per-GPU)</a:t>
            </a:r>
          </a:p>
        </p:txBody>
      </p:sp>
      <p:sp>
        <p:nvSpPr>
          <p:cNvPr id="31" name="TextBox 30"/>
          <p:cNvSpPr txBox="1"/>
          <p:nvPr/>
        </p:nvSpPr>
        <p:spPr>
          <a:xfrm>
            <a:off x="6035040" y="3639312"/>
            <a:ext cx="2103120" cy="384048"/>
          </a:xfrm>
          <a:prstGeom prst="rect">
            <a:avLst/>
          </a:prstGeom>
          <a:noFill/>
        </p:spPr>
        <p:txBody>
          <a:bodyPr wrap="square">
            <a:spAutoFit/>
          </a:bodyPr>
          <a:lstStyle/>
          <a:p>
            <a:pPr algn="l"/>
            <a:r>
              <a:rPr sz="1300" b="1">
                <a:solidFill>
                  <a:srgbClr val="2B2B2B"/>
                </a:solidFill>
                <a:latin typeface="Calibri"/>
              </a:rPr>
              <a:t>Epochs:</a:t>
            </a:r>
          </a:p>
        </p:txBody>
      </p:sp>
      <p:sp>
        <p:nvSpPr>
          <p:cNvPr id="32" name="TextBox 31"/>
          <p:cNvSpPr txBox="1"/>
          <p:nvPr/>
        </p:nvSpPr>
        <p:spPr>
          <a:xfrm>
            <a:off x="8183879" y="3639312"/>
            <a:ext cx="3657600" cy="384048"/>
          </a:xfrm>
          <a:prstGeom prst="rect">
            <a:avLst/>
          </a:prstGeom>
          <a:noFill/>
        </p:spPr>
        <p:txBody>
          <a:bodyPr wrap="square">
            <a:spAutoFit/>
          </a:bodyPr>
          <a:lstStyle/>
          <a:p>
            <a:pPr algn="l"/>
            <a:r>
              <a:rPr sz="1300" b="0">
                <a:solidFill>
                  <a:srgbClr val="555555"/>
                </a:solidFill>
                <a:latin typeface="Calibri"/>
              </a:rPr>
              <a:t>60</a:t>
            </a:r>
          </a:p>
        </p:txBody>
      </p:sp>
      <p:sp>
        <p:nvSpPr>
          <p:cNvPr id="33" name="TextBox 32"/>
          <p:cNvSpPr txBox="1"/>
          <p:nvPr/>
        </p:nvSpPr>
        <p:spPr>
          <a:xfrm>
            <a:off x="6035040" y="4069080"/>
            <a:ext cx="2103120" cy="384048"/>
          </a:xfrm>
          <a:prstGeom prst="rect">
            <a:avLst/>
          </a:prstGeom>
          <a:noFill/>
        </p:spPr>
        <p:txBody>
          <a:bodyPr wrap="square">
            <a:spAutoFit/>
          </a:bodyPr>
          <a:lstStyle/>
          <a:p>
            <a:pPr algn="l"/>
            <a:r>
              <a:rPr sz="1300" b="1">
                <a:solidFill>
                  <a:srgbClr val="2B2B2B"/>
                </a:solidFill>
                <a:latin typeface="Calibri"/>
              </a:rPr>
              <a:t>Augmentation:</a:t>
            </a:r>
          </a:p>
        </p:txBody>
      </p:sp>
      <p:sp>
        <p:nvSpPr>
          <p:cNvPr id="34" name="TextBox 33"/>
          <p:cNvSpPr txBox="1"/>
          <p:nvPr/>
        </p:nvSpPr>
        <p:spPr>
          <a:xfrm>
            <a:off x="8183879" y="4069080"/>
            <a:ext cx="3657600" cy="384048"/>
          </a:xfrm>
          <a:prstGeom prst="rect">
            <a:avLst/>
          </a:prstGeom>
          <a:noFill/>
        </p:spPr>
        <p:txBody>
          <a:bodyPr wrap="square">
            <a:spAutoFit/>
          </a:bodyPr>
          <a:lstStyle/>
          <a:p>
            <a:pPr algn="l"/>
            <a:r>
              <a:rPr sz="1300" b="0">
                <a:solidFill>
                  <a:srgbClr val="555555"/>
                </a:solidFill>
                <a:latin typeface="Calibri"/>
              </a:rPr>
              <a:t>Random crop, H-flip, Color jitter</a:t>
            </a:r>
          </a:p>
        </p:txBody>
      </p:sp>
      <p:sp>
        <p:nvSpPr>
          <p:cNvPr id="35" name="TextBox 34"/>
          <p:cNvSpPr txBox="1"/>
          <p:nvPr/>
        </p:nvSpPr>
        <p:spPr>
          <a:xfrm>
            <a:off x="6035040" y="4498848"/>
            <a:ext cx="2103120" cy="384048"/>
          </a:xfrm>
          <a:prstGeom prst="rect">
            <a:avLst/>
          </a:prstGeom>
          <a:noFill/>
        </p:spPr>
        <p:txBody>
          <a:bodyPr wrap="square">
            <a:spAutoFit/>
          </a:bodyPr>
          <a:lstStyle/>
          <a:p>
            <a:pPr algn="l"/>
            <a:r>
              <a:rPr sz="1300" b="1">
                <a:solidFill>
                  <a:srgbClr val="2B2B2B"/>
                </a:solidFill>
                <a:latin typeface="Calibri"/>
              </a:rPr>
              <a:t>Input (train):</a:t>
            </a:r>
          </a:p>
        </p:txBody>
      </p:sp>
      <p:sp>
        <p:nvSpPr>
          <p:cNvPr id="36" name="TextBox 35"/>
          <p:cNvSpPr txBox="1"/>
          <p:nvPr/>
        </p:nvSpPr>
        <p:spPr>
          <a:xfrm>
            <a:off x="8183879" y="4498848"/>
            <a:ext cx="3657600" cy="384048"/>
          </a:xfrm>
          <a:prstGeom prst="rect">
            <a:avLst/>
          </a:prstGeom>
          <a:noFill/>
        </p:spPr>
        <p:txBody>
          <a:bodyPr wrap="square">
            <a:spAutoFit/>
          </a:bodyPr>
          <a:lstStyle/>
          <a:p>
            <a:pPr algn="l"/>
            <a:r>
              <a:rPr sz="1300" b="0">
                <a:solidFill>
                  <a:srgbClr val="555555"/>
                </a:solidFill>
                <a:latin typeface="Calibri"/>
              </a:rPr>
              <a:t>16 frames @ 224×224</a:t>
            </a:r>
          </a:p>
        </p:txBody>
      </p:sp>
      <p:sp>
        <p:nvSpPr>
          <p:cNvPr id="37" name="TextBox 36"/>
          <p:cNvSpPr txBox="1"/>
          <p:nvPr/>
        </p:nvSpPr>
        <p:spPr>
          <a:xfrm>
            <a:off x="6035040" y="4928616"/>
            <a:ext cx="2103120" cy="384048"/>
          </a:xfrm>
          <a:prstGeom prst="rect">
            <a:avLst/>
          </a:prstGeom>
          <a:noFill/>
        </p:spPr>
        <p:txBody>
          <a:bodyPr wrap="square">
            <a:spAutoFit/>
          </a:bodyPr>
          <a:lstStyle/>
          <a:p>
            <a:pPr algn="l"/>
            <a:r>
              <a:rPr sz="1300" b="1">
                <a:solidFill>
                  <a:srgbClr val="2B2B2B"/>
                </a:solidFill>
                <a:latin typeface="Calibri"/>
              </a:rPr>
              <a:t>Input (infer):</a:t>
            </a:r>
          </a:p>
        </p:txBody>
      </p:sp>
      <p:sp>
        <p:nvSpPr>
          <p:cNvPr id="38" name="TextBox 37"/>
          <p:cNvSpPr txBox="1"/>
          <p:nvPr/>
        </p:nvSpPr>
        <p:spPr>
          <a:xfrm>
            <a:off x="8183879" y="4928616"/>
            <a:ext cx="3657600" cy="384048"/>
          </a:xfrm>
          <a:prstGeom prst="rect">
            <a:avLst/>
          </a:prstGeom>
          <a:noFill/>
        </p:spPr>
        <p:txBody>
          <a:bodyPr wrap="square">
            <a:spAutoFit/>
          </a:bodyPr>
          <a:lstStyle/>
          <a:p>
            <a:pPr algn="l"/>
            <a:r>
              <a:rPr sz="1300" b="0">
                <a:solidFill>
                  <a:srgbClr val="555555"/>
                </a:solidFill>
                <a:latin typeface="Calibri"/>
              </a:rPr>
              <a:t>8 frames @ 112×112  (FP16)</a:t>
            </a:r>
          </a:p>
        </p:txBody>
      </p:sp>
      <p:sp>
        <p:nvSpPr>
          <p:cNvPr id="39" name="TextBox 38"/>
          <p:cNvSpPr txBox="1"/>
          <p:nvPr/>
        </p:nvSpPr>
        <p:spPr>
          <a:xfrm>
            <a:off x="6035040" y="5358384"/>
            <a:ext cx="2103120" cy="384048"/>
          </a:xfrm>
          <a:prstGeom prst="rect">
            <a:avLst/>
          </a:prstGeom>
          <a:noFill/>
        </p:spPr>
        <p:txBody>
          <a:bodyPr wrap="square">
            <a:spAutoFit/>
          </a:bodyPr>
          <a:lstStyle/>
          <a:p>
            <a:pPr algn="l"/>
            <a:r>
              <a:rPr sz="1300" b="1">
                <a:solidFill>
                  <a:srgbClr val="2B2B2B"/>
                </a:solidFill>
                <a:latin typeface="Calibri"/>
              </a:rPr>
              <a:t>Hardware:</a:t>
            </a:r>
          </a:p>
        </p:txBody>
      </p:sp>
      <p:sp>
        <p:nvSpPr>
          <p:cNvPr id="40" name="TextBox 39"/>
          <p:cNvSpPr txBox="1"/>
          <p:nvPr/>
        </p:nvSpPr>
        <p:spPr>
          <a:xfrm>
            <a:off x="8183879" y="5358384"/>
            <a:ext cx="3657600" cy="384048"/>
          </a:xfrm>
          <a:prstGeom prst="rect">
            <a:avLst/>
          </a:prstGeom>
          <a:noFill/>
        </p:spPr>
        <p:txBody>
          <a:bodyPr wrap="square">
            <a:spAutoFit/>
          </a:bodyPr>
          <a:lstStyle/>
          <a:p>
            <a:pPr algn="l"/>
            <a:r>
              <a:rPr sz="1300" b="0">
                <a:solidFill>
                  <a:srgbClr val="555555"/>
                </a:solidFill>
                <a:latin typeface="Calibri"/>
              </a:rPr>
              <a:t>NVIDIA RTX 5060 Ti  (~14 h)</a:t>
            </a:r>
          </a:p>
        </p:txBody>
      </p:sp>
      <p:sp>
        <p:nvSpPr>
          <p:cNvPr id="41" name="TextBox 40"/>
          <p:cNvSpPr txBox="1"/>
          <p:nvPr/>
        </p:nvSpPr>
        <p:spPr>
          <a:xfrm>
            <a:off x="6035040" y="5788152"/>
            <a:ext cx="2103120" cy="384048"/>
          </a:xfrm>
          <a:prstGeom prst="rect">
            <a:avLst/>
          </a:prstGeom>
          <a:noFill/>
        </p:spPr>
        <p:txBody>
          <a:bodyPr wrap="square">
            <a:spAutoFit/>
          </a:bodyPr>
          <a:lstStyle/>
          <a:p>
            <a:pPr algn="l"/>
            <a:r>
              <a:rPr sz="1300" b="1">
                <a:solidFill>
                  <a:srgbClr val="2B2B2B"/>
                </a:solidFill>
                <a:latin typeface="Calibri"/>
              </a:rPr>
              <a:t>Framework:</a:t>
            </a:r>
          </a:p>
        </p:txBody>
      </p:sp>
      <p:sp>
        <p:nvSpPr>
          <p:cNvPr id="42" name="TextBox 41"/>
          <p:cNvSpPr txBox="1"/>
          <p:nvPr/>
        </p:nvSpPr>
        <p:spPr>
          <a:xfrm>
            <a:off x="8183879" y="5788152"/>
            <a:ext cx="3657600" cy="384048"/>
          </a:xfrm>
          <a:prstGeom prst="rect">
            <a:avLst/>
          </a:prstGeom>
          <a:noFill/>
        </p:spPr>
        <p:txBody>
          <a:bodyPr wrap="square">
            <a:spAutoFit/>
          </a:bodyPr>
          <a:lstStyle/>
          <a:p>
            <a:pPr algn="l"/>
            <a:r>
              <a:rPr sz="1300" b="0">
                <a:solidFill>
                  <a:srgbClr val="555555"/>
                </a:solidFill>
                <a:latin typeface="Calibri"/>
              </a:rPr>
              <a:t>PyTorch 2.1 + torchvision</a:t>
            </a:r>
          </a:p>
        </p:txBody>
      </p:sp>
    </p:spTree>
  </p:cSld>
  <p:clrMapOvr>
    <a:masterClrMapping/>
  </p:clrMapOvr>
  <mc:AlternateContent xmlns:mc="http://schemas.openxmlformats.org/markup-compatibility/2006" xmlns:p14="http://schemas.microsoft.com/office/powerpoint/2010/main">
    <mc:Choice Requires="p14">
      <p:transition spd="slow" p14:dur="2000" advTm="68876"/>
    </mc:Choice>
    <mc:Fallback xmlns="">
      <p:transition spd="slow" advTm="6887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Experiments &amp; Results</a:t>
            </a:r>
          </a:p>
        </p:txBody>
      </p:sp>
      <p:sp>
        <p:nvSpPr>
          <p:cNvPr id="4" name="TextBox 3"/>
          <p:cNvSpPr txBox="1"/>
          <p:nvPr/>
        </p:nvSpPr>
        <p:spPr>
          <a:xfrm>
            <a:off x="365760" y="713232"/>
            <a:ext cx="10972800" cy="320040"/>
          </a:xfrm>
          <a:prstGeom prst="rect">
            <a:avLst/>
          </a:prstGeom>
          <a:noFill/>
        </p:spPr>
        <p:txBody>
          <a:bodyPr wrap="square">
            <a:spAutoFit/>
          </a:bodyPr>
          <a:lstStyle/>
          <a:p>
            <a:pPr algn="l"/>
            <a:r>
              <a:rPr sz="1400" b="0">
                <a:solidFill>
                  <a:srgbClr val="FFCCCC"/>
                </a:solidFill>
                <a:latin typeface="Calibri"/>
              </a:rPr>
              <a:t>UCF-101  |  Mean over 3 splits</a:t>
            </a:r>
          </a:p>
        </p:txBody>
      </p:sp>
      <p:sp>
        <p:nvSpPr>
          <p:cNvPr id="5" name="Rectangle 4"/>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8" name="TextBox 7"/>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7 / 8</a:t>
            </a:r>
          </a:p>
        </p:txBody>
      </p:sp>
      <p:sp>
        <p:nvSpPr>
          <p:cNvPr id="9" name="TextBox 8"/>
          <p:cNvSpPr txBox="1"/>
          <p:nvPr/>
        </p:nvSpPr>
        <p:spPr>
          <a:xfrm>
            <a:off x="274320" y="1234440"/>
            <a:ext cx="5760720" cy="347472"/>
          </a:xfrm>
          <a:prstGeom prst="rect">
            <a:avLst/>
          </a:prstGeom>
          <a:noFill/>
        </p:spPr>
        <p:txBody>
          <a:bodyPr wrap="square">
            <a:spAutoFit/>
          </a:bodyPr>
          <a:lstStyle/>
          <a:p>
            <a:pPr algn="l"/>
            <a:r>
              <a:rPr sz="1400" b="1">
                <a:solidFill>
                  <a:srgbClr val="CC0000"/>
                </a:solidFill>
                <a:latin typeface="Calibri"/>
              </a:rPr>
              <a:t>Table 1 — Model Comparison</a:t>
            </a:r>
          </a:p>
        </p:txBody>
      </p:sp>
      <p:sp>
        <p:nvSpPr>
          <p:cNvPr id="10" name="Rectangle 9"/>
          <p:cNvSpPr/>
          <p:nvPr/>
        </p:nvSpPr>
        <p:spPr>
          <a:xfrm>
            <a:off x="274320" y="1627632"/>
            <a:ext cx="228600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719072"/>
            <a:ext cx="2240280" cy="384048"/>
          </a:xfrm>
          <a:prstGeom prst="rect">
            <a:avLst/>
          </a:prstGeom>
          <a:noFill/>
        </p:spPr>
        <p:txBody>
          <a:bodyPr wrap="square">
            <a:spAutoFit/>
          </a:bodyPr>
          <a:lstStyle/>
          <a:p>
            <a:pPr algn="ctr"/>
            <a:r>
              <a:rPr sz="1200" b="1">
                <a:solidFill>
                  <a:srgbClr val="FFFFFF"/>
                </a:solidFill>
                <a:latin typeface="Calibri"/>
              </a:rPr>
              <a:t>Model</a:t>
            </a:r>
          </a:p>
        </p:txBody>
      </p:sp>
      <p:sp>
        <p:nvSpPr>
          <p:cNvPr id="12" name="Rectangle 11"/>
          <p:cNvSpPr/>
          <p:nvPr/>
        </p:nvSpPr>
        <p:spPr>
          <a:xfrm>
            <a:off x="2560320" y="1627632"/>
            <a:ext cx="82296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06040" y="1719072"/>
            <a:ext cx="777240" cy="384048"/>
          </a:xfrm>
          <a:prstGeom prst="rect">
            <a:avLst/>
          </a:prstGeom>
          <a:noFill/>
        </p:spPr>
        <p:txBody>
          <a:bodyPr wrap="square">
            <a:spAutoFit/>
          </a:bodyPr>
          <a:lstStyle/>
          <a:p>
            <a:pPr algn="ctr"/>
            <a:r>
              <a:rPr sz="1200" b="1">
                <a:solidFill>
                  <a:srgbClr val="FFFFFF"/>
                </a:solidFill>
                <a:latin typeface="Calibri"/>
              </a:rPr>
              <a:t>Top-1 (%)</a:t>
            </a:r>
          </a:p>
        </p:txBody>
      </p:sp>
      <p:sp>
        <p:nvSpPr>
          <p:cNvPr id="14" name="Rectangle 13"/>
          <p:cNvSpPr/>
          <p:nvPr/>
        </p:nvSpPr>
        <p:spPr>
          <a:xfrm>
            <a:off x="3383280" y="1627632"/>
            <a:ext cx="82296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29000" y="1719072"/>
            <a:ext cx="777240" cy="384048"/>
          </a:xfrm>
          <a:prstGeom prst="rect">
            <a:avLst/>
          </a:prstGeom>
          <a:noFill/>
        </p:spPr>
        <p:txBody>
          <a:bodyPr wrap="square">
            <a:spAutoFit/>
          </a:bodyPr>
          <a:lstStyle/>
          <a:p>
            <a:pPr algn="ctr"/>
            <a:r>
              <a:rPr sz="1200" b="1">
                <a:solidFill>
                  <a:srgbClr val="FFFFFF"/>
                </a:solidFill>
                <a:latin typeface="Calibri"/>
              </a:rPr>
              <a:t>Top-5 (%)</a:t>
            </a:r>
          </a:p>
        </p:txBody>
      </p:sp>
      <p:sp>
        <p:nvSpPr>
          <p:cNvPr id="16" name="Rectangle 15"/>
          <p:cNvSpPr/>
          <p:nvPr/>
        </p:nvSpPr>
        <p:spPr>
          <a:xfrm>
            <a:off x="4206240" y="1627632"/>
            <a:ext cx="68580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51960" y="1719072"/>
            <a:ext cx="640080" cy="384048"/>
          </a:xfrm>
          <a:prstGeom prst="rect">
            <a:avLst/>
          </a:prstGeom>
          <a:noFill/>
        </p:spPr>
        <p:txBody>
          <a:bodyPr wrap="square">
            <a:spAutoFit/>
          </a:bodyPr>
          <a:lstStyle/>
          <a:p>
            <a:pPr algn="ctr"/>
            <a:r>
              <a:rPr sz="1200" b="1">
                <a:solidFill>
                  <a:srgbClr val="FFFFFF"/>
                </a:solidFill>
                <a:latin typeface="Calibri"/>
              </a:rPr>
              <a:t>Frames</a:t>
            </a:r>
          </a:p>
        </p:txBody>
      </p:sp>
      <p:sp>
        <p:nvSpPr>
          <p:cNvPr id="18" name="Rectangle 17"/>
          <p:cNvSpPr/>
          <p:nvPr/>
        </p:nvSpPr>
        <p:spPr>
          <a:xfrm>
            <a:off x="4892040" y="1627632"/>
            <a:ext cx="68580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0" y="1719072"/>
            <a:ext cx="640080" cy="384048"/>
          </a:xfrm>
          <a:prstGeom prst="rect">
            <a:avLst/>
          </a:prstGeom>
          <a:noFill/>
        </p:spPr>
        <p:txBody>
          <a:bodyPr wrap="square">
            <a:spAutoFit/>
          </a:bodyPr>
          <a:lstStyle/>
          <a:p>
            <a:pPr algn="ctr"/>
            <a:r>
              <a:rPr sz="1200" b="1">
                <a:solidFill>
                  <a:srgbClr val="FFFFFF"/>
                </a:solidFill>
                <a:latin typeface="Calibri"/>
              </a:rPr>
              <a:t>FPS</a:t>
            </a:r>
          </a:p>
        </p:txBody>
      </p:sp>
      <p:sp>
        <p:nvSpPr>
          <p:cNvPr id="20" name="Rectangle 19"/>
          <p:cNvSpPr/>
          <p:nvPr/>
        </p:nvSpPr>
        <p:spPr>
          <a:xfrm>
            <a:off x="274320" y="2103120"/>
            <a:ext cx="22860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2194560"/>
            <a:ext cx="2240280" cy="384048"/>
          </a:xfrm>
          <a:prstGeom prst="rect">
            <a:avLst/>
          </a:prstGeom>
          <a:noFill/>
        </p:spPr>
        <p:txBody>
          <a:bodyPr wrap="square">
            <a:spAutoFit/>
          </a:bodyPr>
          <a:lstStyle/>
          <a:p>
            <a:pPr algn="l"/>
            <a:r>
              <a:rPr sz="1200" b="0">
                <a:solidFill>
                  <a:srgbClr val="2B2B2B"/>
                </a:solidFill>
                <a:latin typeface="Calibri"/>
              </a:rPr>
              <a:t>3D CNN Only (C3D-ResNet18)</a:t>
            </a:r>
          </a:p>
        </p:txBody>
      </p:sp>
      <p:sp>
        <p:nvSpPr>
          <p:cNvPr id="22" name="Rectangle 21"/>
          <p:cNvSpPr/>
          <p:nvPr/>
        </p:nvSpPr>
        <p:spPr>
          <a:xfrm>
            <a:off x="2560320" y="2103120"/>
            <a:ext cx="82296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06040" y="2194560"/>
            <a:ext cx="777240" cy="384048"/>
          </a:xfrm>
          <a:prstGeom prst="rect">
            <a:avLst/>
          </a:prstGeom>
          <a:noFill/>
        </p:spPr>
        <p:txBody>
          <a:bodyPr wrap="square">
            <a:spAutoFit/>
          </a:bodyPr>
          <a:lstStyle/>
          <a:p>
            <a:pPr algn="ctr"/>
            <a:r>
              <a:rPr sz="1200" b="0">
                <a:solidFill>
                  <a:srgbClr val="2B2B2B"/>
                </a:solidFill>
                <a:latin typeface="Calibri"/>
              </a:rPr>
              <a:t>82.1</a:t>
            </a:r>
          </a:p>
        </p:txBody>
      </p:sp>
      <p:sp>
        <p:nvSpPr>
          <p:cNvPr id="24" name="Rectangle 23"/>
          <p:cNvSpPr/>
          <p:nvPr/>
        </p:nvSpPr>
        <p:spPr>
          <a:xfrm>
            <a:off x="3383280" y="2103120"/>
            <a:ext cx="82296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29000" y="2194560"/>
            <a:ext cx="777240" cy="384048"/>
          </a:xfrm>
          <a:prstGeom prst="rect">
            <a:avLst/>
          </a:prstGeom>
          <a:noFill/>
        </p:spPr>
        <p:txBody>
          <a:bodyPr wrap="square">
            <a:spAutoFit/>
          </a:bodyPr>
          <a:lstStyle/>
          <a:p>
            <a:pPr algn="ctr"/>
            <a:r>
              <a:rPr sz="1200" b="0">
                <a:solidFill>
                  <a:srgbClr val="2B2B2B"/>
                </a:solidFill>
                <a:latin typeface="Calibri"/>
              </a:rPr>
              <a:t>95.3</a:t>
            </a:r>
          </a:p>
        </p:txBody>
      </p:sp>
      <p:sp>
        <p:nvSpPr>
          <p:cNvPr id="26" name="Rectangle 25"/>
          <p:cNvSpPr/>
          <p:nvPr/>
        </p:nvSpPr>
        <p:spPr>
          <a:xfrm>
            <a:off x="4206240" y="2103120"/>
            <a:ext cx="6858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51960" y="2194560"/>
            <a:ext cx="640080" cy="384048"/>
          </a:xfrm>
          <a:prstGeom prst="rect">
            <a:avLst/>
          </a:prstGeom>
          <a:noFill/>
        </p:spPr>
        <p:txBody>
          <a:bodyPr wrap="square">
            <a:spAutoFit/>
          </a:bodyPr>
          <a:lstStyle/>
          <a:p>
            <a:pPr algn="ctr"/>
            <a:r>
              <a:rPr sz="1200" b="0">
                <a:solidFill>
                  <a:srgbClr val="2B2B2B"/>
                </a:solidFill>
                <a:latin typeface="Calibri"/>
              </a:rPr>
              <a:t>16</a:t>
            </a:r>
          </a:p>
        </p:txBody>
      </p:sp>
      <p:sp>
        <p:nvSpPr>
          <p:cNvPr id="28" name="Rectangle 27"/>
          <p:cNvSpPr/>
          <p:nvPr/>
        </p:nvSpPr>
        <p:spPr>
          <a:xfrm>
            <a:off x="4892040" y="2103120"/>
            <a:ext cx="6858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37760" y="2194560"/>
            <a:ext cx="640080" cy="384048"/>
          </a:xfrm>
          <a:prstGeom prst="rect">
            <a:avLst/>
          </a:prstGeom>
          <a:noFill/>
        </p:spPr>
        <p:txBody>
          <a:bodyPr wrap="square">
            <a:spAutoFit/>
          </a:bodyPr>
          <a:lstStyle/>
          <a:p>
            <a:pPr algn="ctr"/>
            <a:r>
              <a:rPr sz="1200" b="0">
                <a:solidFill>
                  <a:srgbClr val="2B2B2B"/>
                </a:solidFill>
                <a:latin typeface="Calibri"/>
              </a:rPr>
              <a:t>31.2</a:t>
            </a:r>
          </a:p>
        </p:txBody>
      </p:sp>
      <p:sp>
        <p:nvSpPr>
          <p:cNvPr id="30" name="Rectangle 29"/>
          <p:cNvSpPr/>
          <p:nvPr/>
        </p:nvSpPr>
        <p:spPr>
          <a:xfrm>
            <a:off x="274320" y="2578608"/>
            <a:ext cx="228600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2670048"/>
            <a:ext cx="2240280" cy="384048"/>
          </a:xfrm>
          <a:prstGeom prst="rect">
            <a:avLst/>
          </a:prstGeom>
          <a:noFill/>
        </p:spPr>
        <p:txBody>
          <a:bodyPr wrap="square">
            <a:spAutoFit/>
          </a:bodyPr>
          <a:lstStyle/>
          <a:p>
            <a:pPr algn="l"/>
            <a:r>
              <a:rPr sz="1200" b="0">
                <a:solidFill>
                  <a:srgbClr val="2B2B2B"/>
                </a:solidFill>
                <a:latin typeface="Calibri"/>
              </a:rPr>
              <a:t>Optical Flow + 2D CNN†</a:t>
            </a:r>
          </a:p>
        </p:txBody>
      </p:sp>
      <p:sp>
        <p:nvSpPr>
          <p:cNvPr id="32" name="Rectangle 31"/>
          <p:cNvSpPr/>
          <p:nvPr/>
        </p:nvSpPr>
        <p:spPr>
          <a:xfrm>
            <a:off x="2560320" y="2578608"/>
            <a:ext cx="82296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06040" y="2670048"/>
            <a:ext cx="777240" cy="384048"/>
          </a:xfrm>
          <a:prstGeom prst="rect">
            <a:avLst/>
          </a:prstGeom>
          <a:noFill/>
        </p:spPr>
        <p:txBody>
          <a:bodyPr wrap="square">
            <a:spAutoFit/>
          </a:bodyPr>
          <a:lstStyle/>
          <a:p>
            <a:pPr algn="ctr"/>
            <a:r>
              <a:rPr sz="1200" b="0">
                <a:solidFill>
                  <a:srgbClr val="2B2B2B"/>
                </a:solidFill>
                <a:latin typeface="Calibri"/>
              </a:rPr>
              <a:t>39.62</a:t>
            </a:r>
          </a:p>
        </p:txBody>
      </p:sp>
      <p:sp>
        <p:nvSpPr>
          <p:cNvPr id="34" name="Rectangle 33"/>
          <p:cNvSpPr/>
          <p:nvPr/>
        </p:nvSpPr>
        <p:spPr>
          <a:xfrm>
            <a:off x="3383280" y="2578608"/>
            <a:ext cx="82296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29000" y="2670048"/>
            <a:ext cx="777240" cy="384048"/>
          </a:xfrm>
          <a:prstGeom prst="rect">
            <a:avLst/>
          </a:prstGeom>
          <a:noFill/>
        </p:spPr>
        <p:txBody>
          <a:bodyPr wrap="square">
            <a:spAutoFit/>
          </a:bodyPr>
          <a:lstStyle/>
          <a:p>
            <a:pPr algn="ctr"/>
            <a:r>
              <a:rPr sz="1200" b="0">
                <a:solidFill>
                  <a:srgbClr val="2B2B2B"/>
                </a:solidFill>
                <a:latin typeface="Calibri"/>
              </a:rPr>
              <a:t>65.08</a:t>
            </a:r>
          </a:p>
        </p:txBody>
      </p:sp>
      <p:sp>
        <p:nvSpPr>
          <p:cNvPr id="36" name="Rectangle 35"/>
          <p:cNvSpPr/>
          <p:nvPr/>
        </p:nvSpPr>
        <p:spPr>
          <a:xfrm>
            <a:off x="4206240" y="2578608"/>
            <a:ext cx="68580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51960" y="2670048"/>
            <a:ext cx="640080" cy="384048"/>
          </a:xfrm>
          <a:prstGeom prst="rect">
            <a:avLst/>
          </a:prstGeom>
          <a:noFill/>
        </p:spPr>
        <p:txBody>
          <a:bodyPr wrap="square">
            <a:spAutoFit/>
          </a:bodyPr>
          <a:lstStyle/>
          <a:p>
            <a:pPr algn="ctr"/>
            <a:r>
              <a:rPr sz="1200" b="0">
                <a:solidFill>
                  <a:srgbClr val="2B2B2B"/>
                </a:solidFill>
                <a:latin typeface="Calibri"/>
              </a:rPr>
              <a:t>16</a:t>
            </a:r>
          </a:p>
        </p:txBody>
      </p:sp>
      <p:sp>
        <p:nvSpPr>
          <p:cNvPr id="38" name="Rectangle 37"/>
          <p:cNvSpPr/>
          <p:nvPr/>
        </p:nvSpPr>
        <p:spPr>
          <a:xfrm>
            <a:off x="4892040" y="2578608"/>
            <a:ext cx="68580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37760" y="2670048"/>
            <a:ext cx="640080" cy="384048"/>
          </a:xfrm>
          <a:prstGeom prst="rect">
            <a:avLst/>
          </a:prstGeom>
          <a:noFill/>
        </p:spPr>
        <p:txBody>
          <a:bodyPr wrap="square">
            <a:spAutoFit/>
          </a:bodyPr>
          <a:lstStyle/>
          <a:p>
            <a:pPr algn="ctr"/>
            <a:r>
              <a:rPr sz="1200" b="0">
                <a:solidFill>
                  <a:srgbClr val="2B2B2B"/>
                </a:solidFill>
                <a:latin typeface="Calibri"/>
              </a:rPr>
              <a:t>18.4</a:t>
            </a:r>
          </a:p>
        </p:txBody>
      </p:sp>
      <p:sp>
        <p:nvSpPr>
          <p:cNvPr id="40" name="Rectangle 39"/>
          <p:cNvSpPr/>
          <p:nvPr/>
        </p:nvSpPr>
        <p:spPr>
          <a:xfrm>
            <a:off x="274320" y="3054096"/>
            <a:ext cx="22860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040" y="3145536"/>
            <a:ext cx="2240280" cy="384048"/>
          </a:xfrm>
          <a:prstGeom prst="rect">
            <a:avLst/>
          </a:prstGeom>
          <a:noFill/>
        </p:spPr>
        <p:txBody>
          <a:bodyPr wrap="square">
            <a:spAutoFit/>
          </a:bodyPr>
          <a:lstStyle/>
          <a:p>
            <a:pPr algn="l"/>
            <a:r>
              <a:rPr sz="1200" b="0">
                <a:solidFill>
                  <a:srgbClr val="2B2B2B"/>
                </a:solidFill>
                <a:latin typeface="Calibri"/>
              </a:rPr>
              <a:t>Fusion FP32</a:t>
            </a:r>
          </a:p>
        </p:txBody>
      </p:sp>
      <p:sp>
        <p:nvSpPr>
          <p:cNvPr id="42" name="Rectangle 41"/>
          <p:cNvSpPr/>
          <p:nvPr/>
        </p:nvSpPr>
        <p:spPr>
          <a:xfrm>
            <a:off x="2560320" y="3054096"/>
            <a:ext cx="82296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606040" y="3145536"/>
            <a:ext cx="777240" cy="384048"/>
          </a:xfrm>
          <a:prstGeom prst="rect">
            <a:avLst/>
          </a:prstGeom>
          <a:noFill/>
        </p:spPr>
        <p:txBody>
          <a:bodyPr wrap="square">
            <a:spAutoFit/>
          </a:bodyPr>
          <a:lstStyle/>
          <a:p>
            <a:pPr algn="ctr"/>
            <a:r>
              <a:rPr sz="1200" b="0">
                <a:solidFill>
                  <a:srgbClr val="2B2B2B"/>
                </a:solidFill>
                <a:latin typeface="Calibri"/>
              </a:rPr>
              <a:t>87.4</a:t>
            </a:r>
          </a:p>
        </p:txBody>
      </p:sp>
      <p:sp>
        <p:nvSpPr>
          <p:cNvPr id="44" name="Rectangle 43"/>
          <p:cNvSpPr/>
          <p:nvPr/>
        </p:nvSpPr>
        <p:spPr>
          <a:xfrm>
            <a:off x="3383280" y="3054096"/>
            <a:ext cx="82296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3145536"/>
            <a:ext cx="777240" cy="384048"/>
          </a:xfrm>
          <a:prstGeom prst="rect">
            <a:avLst/>
          </a:prstGeom>
          <a:noFill/>
        </p:spPr>
        <p:txBody>
          <a:bodyPr wrap="square">
            <a:spAutoFit/>
          </a:bodyPr>
          <a:lstStyle/>
          <a:p>
            <a:pPr algn="ctr"/>
            <a:r>
              <a:rPr sz="1200" b="0">
                <a:solidFill>
                  <a:srgbClr val="2B2B2B"/>
                </a:solidFill>
                <a:latin typeface="Calibri"/>
              </a:rPr>
              <a:t>97.1</a:t>
            </a:r>
          </a:p>
        </p:txBody>
      </p:sp>
      <p:sp>
        <p:nvSpPr>
          <p:cNvPr id="46" name="Rectangle 45"/>
          <p:cNvSpPr/>
          <p:nvPr/>
        </p:nvSpPr>
        <p:spPr>
          <a:xfrm>
            <a:off x="4206240" y="3054096"/>
            <a:ext cx="6858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51960" y="3145536"/>
            <a:ext cx="640080" cy="384048"/>
          </a:xfrm>
          <a:prstGeom prst="rect">
            <a:avLst/>
          </a:prstGeom>
          <a:noFill/>
        </p:spPr>
        <p:txBody>
          <a:bodyPr wrap="square">
            <a:spAutoFit/>
          </a:bodyPr>
          <a:lstStyle/>
          <a:p>
            <a:pPr algn="ctr"/>
            <a:r>
              <a:rPr sz="1200" b="0">
                <a:solidFill>
                  <a:srgbClr val="2B2B2B"/>
                </a:solidFill>
                <a:latin typeface="Calibri"/>
              </a:rPr>
              <a:t>8*</a:t>
            </a:r>
          </a:p>
        </p:txBody>
      </p:sp>
      <p:sp>
        <p:nvSpPr>
          <p:cNvPr id="48" name="Rectangle 47"/>
          <p:cNvSpPr/>
          <p:nvPr/>
        </p:nvSpPr>
        <p:spPr>
          <a:xfrm>
            <a:off x="4892040" y="3054096"/>
            <a:ext cx="6858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37760" y="3145536"/>
            <a:ext cx="640080" cy="384048"/>
          </a:xfrm>
          <a:prstGeom prst="rect">
            <a:avLst/>
          </a:prstGeom>
          <a:noFill/>
        </p:spPr>
        <p:txBody>
          <a:bodyPr wrap="square">
            <a:spAutoFit/>
          </a:bodyPr>
          <a:lstStyle/>
          <a:p>
            <a:pPr algn="ctr"/>
            <a:r>
              <a:rPr sz="1200" b="0">
                <a:solidFill>
                  <a:srgbClr val="2B2B2B"/>
                </a:solidFill>
                <a:latin typeface="Calibri"/>
              </a:rPr>
              <a:t>17.6</a:t>
            </a:r>
          </a:p>
        </p:txBody>
      </p:sp>
      <p:sp>
        <p:nvSpPr>
          <p:cNvPr id="50" name="Rectangle 49"/>
          <p:cNvSpPr/>
          <p:nvPr/>
        </p:nvSpPr>
        <p:spPr>
          <a:xfrm>
            <a:off x="274320" y="3529584"/>
            <a:ext cx="2286000" cy="475488"/>
          </a:xfrm>
          <a:prstGeom prst="rect">
            <a:avLst/>
          </a:prstGeom>
          <a:solidFill>
            <a:srgbClr val="FFF0E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20040" y="3621024"/>
            <a:ext cx="2240280" cy="384048"/>
          </a:xfrm>
          <a:prstGeom prst="rect">
            <a:avLst/>
          </a:prstGeom>
          <a:noFill/>
        </p:spPr>
        <p:txBody>
          <a:bodyPr wrap="square">
            <a:spAutoFit/>
          </a:bodyPr>
          <a:lstStyle/>
          <a:p>
            <a:pPr algn="l"/>
            <a:r>
              <a:rPr sz="1200" b="0">
                <a:solidFill>
                  <a:srgbClr val="2B2B2B"/>
                </a:solidFill>
                <a:latin typeface="Calibri"/>
              </a:rPr>
              <a:t>Fusion FP16 (Ours) ★</a:t>
            </a:r>
          </a:p>
        </p:txBody>
      </p:sp>
      <p:sp>
        <p:nvSpPr>
          <p:cNvPr id="52" name="Rectangle 51"/>
          <p:cNvSpPr/>
          <p:nvPr/>
        </p:nvSpPr>
        <p:spPr>
          <a:xfrm>
            <a:off x="2560320" y="3529584"/>
            <a:ext cx="822960" cy="475488"/>
          </a:xfrm>
          <a:prstGeom prst="rect">
            <a:avLst/>
          </a:prstGeom>
          <a:solidFill>
            <a:srgbClr val="FFF0E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606040" y="3621024"/>
            <a:ext cx="777240" cy="384048"/>
          </a:xfrm>
          <a:prstGeom prst="rect">
            <a:avLst/>
          </a:prstGeom>
          <a:noFill/>
        </p:spPr>
        <p:txBody>
          <a:bodyPr wrap="square">
            <a:spAutoFit/>
          </a:bodyPr>
          <a:lstStyle/>
          <a:p>
            <a:pPr algn="ctr"/>
            <a:r>
              <a:rPr sz="1200" b="1">
                <a:solidFill>
                  <a:srgbClr val="CC0000"/>
                </a:solidFill>
                <a:latin typeface="Calibri"/>
              </a:rPr>
              <a:t>87.2</a:t>
            </a:r>
          </a:p>
        </p:txBody>
      </p:sp>
      <p:sp>
        <p:nvSpPr>
          <p:cNvPr id="54" name="Rectangle 53"/>
          <p:cNvSpPr/>
          <p:nvPr/>
        </p:nvSpPr>
        <p:spPr>
          <a:xfrm>
            <a:off x="3383280" y="3529584"/>
            <a:ext cx="822960" cy="475488"/>
          </a:xfrm>
          <a:prstGeom prst="rect">
            <a:avLst/>
          </a:prstGeom>
          <a:solidFill>
            <a:srgbClr val="FFF0E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429000" y="3621024"/>
            <a:ext cx="777240" cy="384048"/>
          </a:xfrm>
          <a:prstGeom prst="rect">
            <a:avLst/>
          </a:prstGeom>
          <a:noFill/>
        </p:spPr>
        <p:txBody>
          <a:bodyPr wrap="square">
            <a:spAutoFit/>
          </a:bodyPr>
          <a:lstStyle/>
          <a:p>
            <a:pPr algn="ctr"/>
            <a:r>
              <a:rPr sz="1200" b="1">
                <a:solidFill>
                  <a:srgbClr val="CC0000"/>
                </a:solidFill>
                <a:latin typeface="Calibri"/>
              </a:rPr>
              <a:t>97.0</a:t>
            </a:r>
          </a:p>
        </p:txBody>
      </p:sp>
      <p:sp>
        <p:nvSpPr>
          <p:cNvPr id="56" name="Rectangle 55"/>
          <p:cNvSpPr/>
          <p:nvPr/>
        </p:nvSpPr>
        <p:spPr>
          <a:xfrm>
            <a:off x="4206240" y="3529584"/>
            <a:ext cx="685800" cy="475488"/>
          </a:xfrm>
          <a:prstGeom prst="rect">
            <a:avLst/>
          </a:prstGeom>
          <a:solidFill>
            <a:srgbClr val="FFF0E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251960" y="3621024"/>
            <a:ext cx="640080" cy="384048"/>
          </a:xfrm>
          <a:prstGeom prst="rect">
            <a:avLst/>
          </a:prstGeom>
          <a:noFill/>
        </p:spPr>
        <p:txBody>
          <a:bodyPr wrap="square">
            <a:spAutoFit/>
          </a:bodyPr>
          <a:lstStyle/>
          <a:p>
            <a:pPr algn="ctr"/>
            <a:r>
              <a:rPr sz="1200" b="1">
                <a:solidFill>
                  <a:srgbClr val="CC0000"/>
                </a:solidFill>
                <a:latin typeface="Calibri"/>
              </a:rPr>
              <a:t>8*</a:t>
            </a:r>
          </a:p>
        </p:txBody>
      </p:sp>
      <p:sp>
        <p:nvSpPr>
          <p:cNvPr id="58" name="Rectangle 57"/>
          <p:cNvSpPr/>
          <p:nvPr/>
        </p:nvSpPr>
        <p:spPr>
          <a:xfrm>
            <a:off x="4892040" y="3529584"/>
            <a:ext cx="685800" cy="475488"/>
          </a:xfrm>
          <a:prstGeom prst="rect">
            <a:avLst/>
          </a:prstGeom>
          <a:solidFill>
            <a:srgbClr val="FFF0EE"/>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937760" y="3621024"/>
            <a:ext cx="640080" cy="384048"/>
          </a:xfrm>
          <a:prstGeom prst="rect">
            <a:avLst/>
          </a:prstGeom>
          <a:noFill/>
        </p:spPr>
        <p:txBody>
          <a:bodyPr wrap="square">
            <a:spAutoFit/>
          </a:bodyPr>
          <a:lstStyle/>
          <a:p>
            <a:pPr algn="ctr"/>
            <a:r>
              <a:rPr sz="1200" b="1">
                <a:solidFill>
                  <a:srgbClr val="CC0000"/>
                </a:solidFill>
                <a:latin typeface="Calibri"/>
              </a:rPr>
              <a:t>22.8</a:t>
            </a:r>
          </a:p>
        </p:txBody>
      </p:sp>
      <p:sp>
        <p:nvSpPr>
          <p:cNvPr id="60" name="TextBox 59"/>
          <p:cNvSpPr txBox="1"/>
          <p:nvPr/>
        </p:nvSpPr>
        <p:spPr>
          <a:xfrm>
            <a:off x="274320" y="4050792"/>
            <a:ext cx="5760720" cy="365760"/>
          </a:xfrm>
          <a:prstGeom prst="rect">
            <a:avLst/>
          </a:prstGeom>
          <a:noFill/>
        </p:spPr>
        <p:txBody>
          <a:bodyPr wrap="square">
            <a:spAutoFit/>
          </a:bodyPr>
          <a:lstStyle/>
          <a:p>
            <a:pPr algn="l"/>
            <a:r>
              <a:rPr sz="1100" b="0" i="1">
                <a:solidFill>
                  <a:srgbClr val="555555"/>
                </a:solidFill>
                <a:latin typeface="Calibri"/>
              </a:rPr>
              <a:t>* 8-frame subsampling at inference   † Split 1 only</a:t>
            </a:r>
          </a:p>
        </p:txBody>
      </p:sp>
      <p:sp>
        <p:nvSpPr>
          <p:cNvPr id="61" name="TextBox 60"/>
          <p:cNvSpPr txBox="1"/>
          <p:nvPr/>
        </p:nvSpPr>
        <p:spPr>
          <a:xfrm>
            <a:off x="6126480" y="1234440"/>
            <a:ext cx="5852160" cy="347472"/>
          </a:xfrm>
          <a:prstGeom prst="rect">
            <a:avLst/>
          </a:prstGeom>
          <a:noFill/>
        </p:spPr>
        <p:txBody>
          <a:bodyPr wrap="square">
            <a:spAutoFit/>
          </a:bodyPr>
          <a:lstStyle/>
          <a:p>
            <a:pPr algn="l"/>
            <a:r>
              <a:rPr sz="1400" b="1">
                <a:solidFill>
                  <a:srgbClr val="CC0000"/>
                </a:solidFill>
                <a:latin typeface="Calibri"/>
              </a:rPr>
              <a:t>Table 2 — Ablation on Split 1 (baseline: 88.1%)</a:t>
            </a:r>
          </a:p>
        </p:txBody>
      </p:sp>
      <p:sp>
        <p:nvSpPr>
          <p:cNvPr id="62" name="Rectangle 61"/>
          <p:cNvSpPr/>
          <p:nvPr/>
        </p:nvSpPr>
        <p:spPr>
          <a:xfrm>
            <a:off x="6126480" y="1627632"/>
            <a:ext cx="320040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172200" y="1719072"/>
            <a:ext cx="3154680" cy="384048"/>
          </a:xfrm>
          <a:prstGeom prst="rect">
            <a:avLst/>
          </a:prstGeom>
          <a:noFill/>
        </p:spPr>
        <p:txBody>
          <a:bodyPr wrap="square">
            <a:spAutoFit/>
          </a:bodyPr>
          <a:lstStyle/>
          <a:p>
            <a:pPr algn="ctr"/>
            <a:r>
              <a:rPr sz="1200" b="1">
                <a:solidFill>
                  <a:srgbClr val="FFFFFF"/>
                </a:solidFill>
                <a:latin typeface="Calibri"/>
              </a:rPr>
              <a:t>Configuration</a:t>
            </a:r>
          </a:p>
        </p:txBody>
      </p:sp>
      <p:sp>
        <p:nvSpPr>
          <p:cNvPr id="64" name="Rectangle 63"/>
          <p:cNvSpPr/>
          <p:nvPr/>
        </p:nvSpPr>
        <p:spPr>
          <a:xfrm>
            <a:off x="9326880" y="1627632"/>
            <a:ext cx="118872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1719072"/>
            <a:ext cx="1143000" cy="384048"/>
          </a:xfrm>
          <a:prstGeom prst="rect">
            <a:avLst/>
          </a:prstGeom>
          <a:noFill/>
        </p:spPr>
        <p:txBody>
          <a:bodyPr wrap="square">
            <a:spAutoFit/>
          </a:bodyPr>
          <a:lstStyle/>
          <a:p>
            <a:pPr algn="ctr"/>
            <a:r>
              <a:rPr sz="1200" b="1">
                <a:solidFill>
                  <a:srgbClr val="FFFFFF"/>
                </a:solidFill>
                <a:latin typeface="Calibri"/>
              </a:rPr>
              <a:t>Top-1 (%)</a:t>
            </a:r>
          </a:p>
        </p:txBody>
      </p:sp>
      <p:sp>
        <p:nvSpPr>
          <p:cNvPr id="66" name="Rectangle 65"/>
          <p:cNvSpPr/>
          <p:nvPr/>
        </p:nvSpPr>
        <p:spPr>
          <a:xfrm>
            <a:off x="10515600" y="1627632"/>
            <a:ext cx="1097280" cy="475488"/>
          </a:xfrm>
          <a:prstGeom prst="rect">
            <a:avLst/>
          </a:prstGeom>
          <a:solidFill>
            <a:srgbClr val="2B2B2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561320" y="1719072"/>
            <a:ext cx="1051560" cy="384048"/>
          </a:xfrm>
          <a:prstGeom prst="rect">
            <a:avLst/>
          </a:prstGeom>
          <a:noFill/>
        </p:spPr>
        <p:txBody>
          <a:bodyPr wrap="square">
            <a:spAutoFit/>
          </a:bodyPr>
          <a:lstStyle/>
          <a:p>
            <a:pPr algn="ctr"/>
            <a:r>
              <a:rPr sz="1200" b="1">
                <a:solidFill>
                  <a:srgbClr val="FFFFFF"/>
                </a:solidFill>
                <a:latin typeface="Calibri"/>
              </a:rPr>
              <a:t>Δ</a:t>
            </a:r>
          </a:p>
        </p:txBody>
      </p:sp>
      <p:sp>
        <p:nvSpPr>
          <p:cNvPr id="68" name="Rectangle 67"/>
          <p:cNvSpPr/>
          <p:nvPr/>
        </p:nvSpPr>
        <p:spPr>
          <a:xfrm>
            <a:off x="6126480" y="2103120"/>
            <a:ext cx="32004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72200" y="2194560"/>
            <a:ext cx="3154680" cy="384048"/>
          </a:xfrm>
          <a:prstGeom prst="rect">
            <a:avLst/>
          </a:prstGeom>
          <a:noFill/>
        </p:spPr>
        <p:txBody>
          <a:bodyPr wrap="square">
            <a:spAutoFit/>
          </a:bodyPr>
          <a:lstStyle/>
          <a:p>
            <a:pPr algn="l"/>
            <a:r>
              <a:rPr sz="1200" b="0">
                <a:solidFill>
                  <a:srgbClr val="2B2B2B"/>
                </a:solidFill>
                <a:latin typeface="Calibri"/>
              </a:rPr>
              <a:t>Full Fusion (baseline)</a:t>
            </a:r>
          </a:p>
        </p:txBody>
      </p:sp>
      <p:sp>
        <p:nvSpPr>
          <p:cNvPr id="70" name="Rectangle 69"/>
          <p:cNvSpPr/>
          <p:nvPr/>
        </p:nvSpPr>
        <p:spPr>
          <a:xfrm>
            <a:off x="9326880" y="2103120"/>
            <a:ext cx="118872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372600" y="2194560"/>
            <a:ext cx="1143000" cy="384048"/>
          </a:xfrm>
          <a:prstGeom prst="rect">
            <a:avLst/>
          </a:prstGeom>
          <a:noFill/>
        </p:spPr>
        <p:txBody>
          <a:bodyPr wrap="square">
            <a:spAutoFit/>
          </a:bodyPr>
          <a:lstStyle/>
          <a:p>
            <a:pPr algn="ctr"/>
            <a:r>
              <a:rPr sz="1200" b="0">
                <a:solidFill>
                  <a:srgbClr val="2B2B2B"/>
                </a:solidFill>
                <a:latin typeface="Calibri"/>
              </a:rPr>
              <a:t>88.1</a:t>
            </a:r>
          </a:p>
        </p:txBody>
      </p:sp>
      <p:sp>
        <p:nvSpPr>
          <p:cNvPr id="72" name="Rectangle 71"/>
          <p:cNvSpPr/>
          <p:nvPr/>
        </p:nvSpPr>
        <p:spPr>
          <a:xfrm>
            <a:off x="10515600" y="2103120"/>
            <a:ext cx="109728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561320" y="2194560"/>
            <a:ext cx="1051560" cy="384048"/>
          </a:xfrm>
          <a:prstGeom prst="rect">
            <a:avLst/>
          </a:prstGeom>
          <a:noFill/>
        </p:spPr>
        <p:txBody>
          <a:bodyPr wrap="square">
            <a:spAutoFit/>
          </a:bodyPr>
          <a:lstStyle/>
          <a:p>
            <a:pPr algn="ctr"/>
            <a:r>
              <a:rPr sz="1200" b="0">
                <a:solidFill>
                  <a:srgbClr val="2B2B2B"/>
                </a:solidFill>
                <a:latin typeface="Calibri"/>
              </a:rPr>
              <a:t>—</a:t>
            </a:r>
          </a:p>
        </p:txBody>
      </p:sp>
      <p:sp>
        <p:nvSpPr>
          <p:cNvPr id="74" name="Rectangle 73"/>
          <p:cNvSpPr/>
          <p:nvPr/>
        </p:nvSpPr>
        <p:spPr>
          <a:xfrm>
            <a:off x="6126480" y="2578608"/>
            <a:ext cx="320040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172200" y="2670048"/>
            <a:ext cx="3154680" cy="384048"/>
          </a:xfrm>
          <a:prstGeom prst="rect">
            <a:avLst/>
          </a:prstGeom>
          <a:noFill/>
        </p:spPr>
        <p:txBody>
          <a:bodyPr wrap="square">
            <a:spAutoFit/>
          </a:bodyPr>
          <a:lstStyle/>
          <a:p>
            <a:pPr algn="l"/>
            <a:r>
              <a:rPr sz="1200" b="0">
                <a:solidFill>
                  <a:srgbClr val="2B2B2B"/>
                </a:solidFill>
                <a:latin typeface="Calibri"/>
              </a:rPr>
              <a:t>w/o Dropout</a:t>
            </a:r>
          </a:p>
        </p:txBody>
      </p:sp>
      <p:sp>
        <p:nvSpPr>
          <p:cNvPr id="76" name="Rectangle 75"/>
          <p:cNvSpPr/>
          <p:nvPr/>
        </p:nvSpPr>
        <p:spPr>
          <a:xfrm>
            <a:off x="9326880" y="2578608"/>
            <a:ext cx="118872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372600" y="2670048"/>
            <a:ext cx="1143000" cy="384048"/>
          </a:xfrm>
          <a:prstGeom prst="rect">
            <a:avLst/>
          </a:prstGeom>
          <a:noFill/>
        </p:spPr>
        <p:txBody>
          <a:bodyPr wrap="square">
            <a:spAutoFit/>
          </a:bodyPr>
          <a:lstStyle/>
          <a:p>
            <a:pPr algn="ctr"/>
            <a:r>
              <a:rPr sz="1200" b="0">
                <a:solidFill>
                  <a:srgbClr val="2B2B2B"/>
                </a:solidFill>
                <a:latin typeface="Calibri"/>
              </a:rPr>
              <a:t>86.2</a:t>
            </a:r>
          </a:p>
        </p:txBody>
      </p:sp>
      <p:sp>
        <p:nvSpPr>
          <p:cNvPr id="78" name="Rectangle 77"/>
          <p:cNvSpPr/>
          <p:nvPr/>
        </p:nvSpPr>
        <p:spPr>
          <a:xfrm>
            <a:off x="10515600" y="2578608"/>
            <a:ext cx="109728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561320" y="2670048"/>
            <a:ext cx="1051560" cy="384048"/>
          </a:xfrm>
          <a:prstGeom prst="rect">
            <a:avLst/>
          </a:prstGeom>
          <a:noFill/>
        </p:spPr>
        <p:txBody>
          <a:bodyPr wrap="square">
            <a:spAutoFit/>
          </a:bodyPr>
          <a:lstStyle/>
          <a:p>
            <a:pPr algn="ctr"/>
            <a:r>
              <a:rPr sz="1200" b="1">
                <a:solidFill>
                  <a:srgbClr val="CC0000"/>
                </a:solidFill>
                <a:latin typeface="Calibri"/>
              </a:rPr>
              <a:t>−1.9</a:t>
            </a:r>
          </a:p>
        </p:txBody>
      </p:sp>
      <p:sp>
        <p:nvSpPr>
          <p:cNvPr id="80" name="Rectangle 79"/>
          <p:cNvSpPr/>
          <p:nvPr/>
        </p:nvSpPr>
        <p:spPr>
          <a:xfrm>
            <a:off x="6126480" y="3054096"/>
            <a:ext cx="32004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172200" y="3145536"/>
            <a:ext cx="3154680" cy="384048"/>
          </a:xfrm>
          <a:prstGeom prst="rect">
            <a:avLst/>
          </a:prstGeom>
          <a:noFill/>
        </p:spPr>
        <p:txBody>
          <a:bodyPr wrap="square">
            <a:spAutoFit/>
          </a:bodyPr>
          <a:lstStyle/>
          <a:p>
            <a:pPr algn="l"/>
            <a:r>
              <a:rPr sz="1200" b="0">
                <a:solidFill>
                  <a:srgbClr val="2B2B2B"/>
                </a:solidFill>
                <a:latin typeface="Calibri"/>
              </a:rPr>
              <a:t>w/o ImageNet Pretraining</a:t>
            </a:r>
          </a:p>
        </p:txBody>
      </p:sp>
      <p:sp>
        <p:nvSpPr>
          <p:cNvPr id="82" name="Rectangle 81"/>
          <p:cNvSpPr/>
          <p:nvPr/>
        </p:nvSpPr>
        <p:spPr>
          <a:xfrm>
            <a:off x="9326880" y="3054096"/>
            <a:ext cx="118872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372600" y="3145536"/>
            <a:ext cx="1143000" cy="384048"/>
          </a:xfrm>
          <a:prstGeom prst="rect">
            <a:avLst/>
          </a:prstGeom>
          <a:noFill/>
        </p:spPr>
        <p:txBody>
          <a:bodyPr wrap="square">
            <a:spAutoFit/>
          </a:bodyPr>
          <a:lstStyle/>
          <a:p>
            <a:pPr algn="ctr"/>
            <a:r>
              <a:rPr sz="1200" b="0">
                <a:solidFill>
                  <a:srgbClr val="2B2B2B"/>
                </a:solidFill>
                <a:latin typeface="Calibri"/>
              </a:rPr>
              <a:t>83.5</a:t>
            </a:r>
          </a:p>
        </p:txBody>
      </p:sp>
      <p:sp>
        <p:nvSpPr>
          <p:cNvPr id="84" name="Rectangle 83"/>
          <p:cNvSpPr/>
          <p:nvPr/>
        </p:nvSpPr>
        <p:spPr>
          <a:xfrm>
            <a:off x="10515600" y="3054096"/>
            <a:ext cx="109728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561320" y="3145536"/>
            <a:ext cx="1051560" cy="384048"/>
          </a:xfrm>
          <a:prstGeom prst="rect">
            <a:avLst/>
          </a:prstGeom>
          <a:noFill/>
        </p:spPr>
        <p:txBody>
          <a:bodyPr wrap="square">
            <a:spAutoFit/>
          </a:bodyPr>
          <a:lstStyle/>
          <a:p>
            <a:pPr algn="ctr"/>
            <a:r>
              <a:rPr sz="1200" b="1">
                <a:solidFill>
                  <a:srgbClr val="CC0000"/>
                </a:solidFill>
                <a:latin typeface="Calibri"/>
              </a:rPr>
              <a:t>−4.6</a:t>
            </a:r>
          </a:p>
        </p:txBody>
      </p:sp>
      <p:sp>
        <p:nvSpPr>
          <p:cNvPr id="86" name="Rectangle 85"/>
          <p:cNvSpPr/>
          <p:nvPr/>
        </p:nvSpPr>
        <p:spPr>
          <a:xfrm>
            <a:off x="6126480" y="3529584"/>
            <a:ext cx="320040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172200" y="3621024"/>
            <a:ext cx="3154680" cy="384048"/>
          </a:xfrm>
          <a:prstGeom prst="rect">
            <a:avLst/>
          </a:prstGeom>
          <a:noFill/>
        </p:spPr>
        <p:txBody>
          <a:bodyPr wrap="square">
            <a:spAutoFit/>
          </a:bodyPr>
          <a:lstStyle/>
          <a:p>
            <a:pPr algn="l"/>
            <a:r>
              <a:rPr sz="1200" b="0">
                <a:solidFill>
                  <a:srgbClr val="2B2B2B"/>
                </a:solidFill>
                <a:latin typeface="Calibri"/>
              </a:rPr>
              <a:t>16-frame clips (infer)</a:t>
            </a:r>
          </a:p>
        </p:txBody>
      </p:sp>
      <p:sp>
        <p:nvSpPr>
          <p:cNvPr id="88" name="Rectangle 87"/>
          <p:cNvSpPr/>
          <p:nvPr/>
        </p:nvSpPr>
        <p:spPr>
          <a:xfrm>
            <a:off x="9326880" y="3529584"/>
            <a:ext cx="118872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372600" y="3621024"/>
            <a:ext cx="1143000" cy="384048"/>
          </a:xfrm>
          <a:prstGeom prst="rect">
            <a:avLst/>
          </a:prstGeom>
          <a:noFill/>
        </p:spPr>
        <p:txBody>
          <a:bodyPr wrap="square">
            <a:spAutoFit/>
          </a:bodyPr>
          <a:lstStyle/>
          <a:p>
            <a:pPr algn="ctr"/>
            <a:r>
              <a:rPr sz="1200" b="0">
                <a:solidFill>
                  <a:srgbClr val="2B2B2B"/>
                </a:solidFill>
                <a:latin typeface="Calibri"/>
              </a:rPr>
              <a:t>89.3</a:t>
            </a:r>
          </a:p>
        </p:txBody>
      </p:sp>
      <p:sp>
        <p:nvSpPr>
          <p:cNvPr id="90" name="Rectangle 89"/>
          <p:cNvSpPr/>
          <p:nvPr/>
        </p:nvSpPr>
        <p:spPr>
          <a:xfrm>
            <a:off x="10515600" y="3529584"/>
            <a:ext cx="1097280" cy="47548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561320" y="3621024"/>
            <a:ext cx="1051560" cy="384048"/>
          </a:xfrm>
          <a:prstGeom prst="rect">
            <a:avLst/>
          </a:prstGeom>
          <a:noFill/>
        </p:spPr>
        <p:txBody>
          <a:bodyPr wrap="square">
            <a:spAutoFit/>
          </a:bodyPr>
          <a:lstStyle/>
          <a:p>
            <a:pPr algn="ctr"/>
            <a:r>
              <a:rPr sz="1200" b="1">
                <a:solidFill>
                  <a:srgbClr val="277A3B"/>
                </a:solidFill>
                <a:latin typeface="Calibri"/>
              </a:rPr>
              <a:t>+1.2 ↑</a:t>
            </a:r>
          </a:p>
        </p:txBody>
      </p:sp>
      <p:sp>
        <p:nvSpPr>
          <p:cNvPr id="92" name="Rectangle 91"/>
          <p:cNvSpPr/>
          <p:nvPr/>
        </p:nvSpPr>
        <p:spPr>
          <a:xfrm>
            <a:off x="6126480" y="4005072"/>
            <a:ext cx="320040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172200" y="4096512"/>
            <a:ext cx="3154680" cy="384048"/>
          </a:xfrm>
          <a:prstGeom prst="rect">
            <a:avLst/>
          </a:prstGeom>
          <a:noFill/>
        </p:spPr>
        <p:txBody>
          <a:bodyPr wrap="square">
            <a:spAutoFit/>
          </a:bodyPr>
          <a:lstStyle/>
          <a:p>
            <a:pPr algn="l"/>
            <a:r>
              <a:rPr sz="1200" b="0">
                <a:solidFill>
                  <a:srgbClr val="2B2B2B"/>
                </a:solidFill>
                <a:latin typeface="Calibri"/>
              </a:rPr>
              <a:t>FP32 only</a:t>
            </a:r>
          </a:p>
        </p:txBody>
      </p:sp>
      <p:sp>
        <p:nvSpPr>
          <p:cNvPr id="94" name="Rectangle 93"/>
          <p:cNvSpPr/>
          <p:nvPr/>
        </p:nvSpPr>
        <p:spPr>
          <a:xfrm>
            <a:off x="9326880" y="4005072"/>
            <a:ext cx="118872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372600" y="4096512"/>
            <a:ext cx="1143000" cy="384048"/>
          </a:xfrm>
          <a:prstGeom prst="rect">
            <a:avLst/>
          </a:prstGeom>
          <a:noFill/>
        </p:spPr>
        <p:txBody>
          <a:bodyPr wrap="square">
            <a:spAutoFit/>
          </a:bodyPr>
          <a:lstStyle/>
          <a:p>
            <a:pPr algn="ctr"/>
            <a:r>
              <a:rPr sz="1200" b="0">
                <a:solidFill>
                  <a:srgbClr val="2B2B2B"/>
                </a:solidFill>
                <a:latin typeface="Calibri"/>
              </a:rPr>
              <a:t>88.1</a:t>
            </a:r>
          </a:p>
        </p:txBody>
      </p:sp>
      <p:sp>
        <p:nvSpPr>
          <p:cNvPr id="96" name="Rectangle 95"/>
          <p:cNvSpPr/>
          <p:nvPr/>
        </p:nvSpPr>
        <p:spPr>
          <a:xfrm>
            <a:off x="10515600" y="4005072"/>
            <a:ext cx="1097280" cy="47548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561320" y="4096512"/>
            <a:ext cx="1051560" cy="384048"/>
          </a:xfrm>
          <a:prstGeom prst="rect">
            <a:avLst/>
          </a:prstGeom>
          <a:noFill/>
        </p:spPr>
        <p:txBody>
          <a:bodyPr wrap="square">
            <a:spAutoFit/>
          </a:bodyPr>
          <a:lstStyle/>
          <a:p>
            <a:pPr algn="ctr"/>
            <a:r>
              <a:rPr sz="1200" b="0">
                <a:solidFill>
                  <a:srgbClr val="2B2B2B"/>
                </a:solidFill>
                <a:latin typeface="Calibri"/>
              </a:rPr>
              <a:t>0.0</a:t>
            </a:r>
          </a:p>
        </p:txBody>
      </p:sp>
      <p:sp>
        <p:nvSpPr>
          <p:cNvPr id="98" name="Rectangle 97"/>
          <p:cNvSpPr/>
          <p:nvPr/>
        </p:nvSpPr>
        <p:spPr>
          <a:xfrm>
            <a:off x="274320" y="5029200"/>
            <a:ext cx="11612880" cy="12618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457200" y="5093208"/>
            <a:ext cx="10972800" cy="347472"/>
          </a:xfrm>
          <a:prstGeom prst="rect">
            <a:avLst/>
          </a:prstGeom>
          <a:noFill/>
        </p:spPr>
        <p:txBody>
          <a:bodyPr wrap="square">
            <a:spAutoFit/>
          </a:bodyPr>
          <a:lstStyle/>
          <a:p>
            <a:pPr algn="l"/>
            <a:r>
              <a:rPr sz="1300" b="1">
                <a:solidFill>
                  <a:srgbClr val="FFFFFF"/>
                </a:solidFill>
                <a:latin typeface="Calibri"/>
              </a:rPr>
              <a:t>Key Findings</a:t>
            </a:r>
          </a:p>
        </p:txBody>
      </p:sp>
      <p:sp>
        <p:nvSpPr>
          <p:cNvPr id="100" name="TextBox 99"/>
          <p:cNvSpPr txBox="1"/>
          <p:nvPr/>
        </p:nvSpPr>
        <p:spPr>
          <a:xfrm>
            <a:off x="457200" y="5458968"/>
            <a:ext cx="11430000" cy="777240"/>
          </a:xfrm>
          <a:prstGeom prst="rect">
            <a:avLst/>
          </a:prstGeom>
          <a:noFill/>
        </p:spPr>
        <p:txBody>
          <a:bodyPr wrap="square">
            <a:spAutoFit/>
          </a:bodyPr>
          <a:lstStyle/>
          <a:p>
            <a:pPr algn="l"/>
            <a:r>
              <a:rPr sz="1300" b="0">
                <a:solidFill>
                  <a:srgbClr val="FFFFFF"/>
                </a:solidFill>
                <a:latin typeface="Calibri"/>
              </a:rPr>
              <a:t>Fusion outperforms RGB-only: +5.3 pts (FP32) / +5.1 pts (FP16)  ·  ImageNet pretraining is critical (+4.6 pts)  ·  Dropout prevents overfitting (+1.9 pts)  ·  FP16 has zero accuracy cost  ·  22.8 FPS exceeds ≥15 FPS target ✓</a:t>
            </a:r>
          </a:p>
        </p:txBody>
      </p:sp>
      <p:sp>
        <p:nvSpPr>
          <p:cNvPr id="101" name="TextBox 100"/>
          <p:cNvSpPr txBox="1"/>
          <p:nvPr/>
        </p:nvSpPr>
        <p:spPr>
          <a:xfrm>
            <a:off x="274320" y="4315968"/>
            <a:ext cx="5760720" cy="777240"/>
          </a:xfrm>
          <a:prstGeom prst="rect">
            <a:avLst/>
          </a:prstGeom>
          <a:noFill/>
        </p:spPr>
        <p:txBody>
          <a:bodyPr wrap="square">
            <a:spAutoFit/>
          </a:bodyPr>
          <a:lstStyle/>
          <a:p>
            <a:pPr algn="l"/>
            <a:r>
              <a:rPr sz="1000" b="0" i="1">
                <a:solidFill>
                  <a:srgbClr val="D66D00"/>
                </a:solidFill>
                <a:latin typeface="Calibri"/>
              </a:rPr>
              <a:t>‡ Flow-only accuracy is low (39.62%) because: (1) evaluated on Split 1 only — not 3-split mean; (2) the flow branch was trained with a simpler schedule and no augmentation tuning; (3) optical flow alone lacks appearance context, which is critical for many UCF-101 classes. The fusion result (+5.3 / +5.1 pts) shows the flow branch still adds complementary signal.</a:t>
            </a:r>
          </a:p>
        </p:txBody>
      </p:sp>
    </p:spTree>
  </p:cSld>
  <p:clrMapOvr>
    <a:masterClrMapping/>
  </p:clrMapOvr>
  <mc:AlternateContent xmlns:mc="http://schemas.openxmlformats.org/markup-compatibility/2006" xmlns:p14="http://schemas.microsoft.com/office/powerpoint/2010/main">
    <mc:Choice Requires="p14">
      <p:transition spd="slow" p14:dur="2000" advTm="92734"/>
    </mc:Choice>
    <mc:Fallback xmlns="">
      <p:transition spd="slow" advTm="9273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0972800" cy="640080"/>
          </a:xfrm>
          <a:prstGeom prst="rect">
            <a:avLst/>
          </a:prstGeom>
          <a:noFill/>
        </p:spPr>
        <p:txBody>
          <a:bodyPr wrap="square">
            <a:spAutoFit/>
          </a:bodyPr>
          <a:lstStyle/>
          <a:p>
            <a:pPr algn="l"/>
            <a:r>
              <a:rPr sz="2800" b="1">
                <a:solidFill>
                  <a:srgbClr val="FFFFFF"/>
                </a:solidFill>
                <a:latin typeface="Calibri"/>
              </a:rPr>
              <a:t>Discussion &amp; Conclusion</a:t>
            </a:r>
          </a:p>
        </p:txBody>
      </p:sp>
      <p:sp>
        <p:nvSpPr>
          <p:cNvPr id="4" name="Rectangle 3"/>
          <p:cNvSpPr/>
          <p:nvPr/>
        </p:nvSpPr>
        <p:spPr>
          <a:xfrm>
            <a:off x="0" y="1051560"/>
            <a:ext cx="12188952" cy="36576"/>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65392"/>
            <a:ext cx="12188952"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83680"/>
            <a:ext cx="9144000" cy="256032"/>
          </a:xfrm>
          <a:prstGeom prst="rect">
            <a:avLst/>
          </a:prstGeom>
          <a:noFill/>
        </p:spPr>
        <p:txBody>
          <a:bodyPr wrap="square">
            <a:spAutoFit/>
          </a:bodyPr>
          <a:lstStyle/>
          <a:p>
            <a:pPr algn="l"/>
            <a:r>
              <a:rPr sz="1100" b="0">
                <a:solidFill>
                  <a:srgbClr val="FFFFFF"/>
                </a:solidFill>
                <a:latin typeface="Calibri"/>
              </a:rPr>
              <a:t>CS 5330 | Shenwei Fan · Siwei An | Northeastern University</a:t>
            </a:r>
          </a:p>
        </p:txBody>
      </p:sp>
      <p:sp>
        <p:nvSpPr>
          <p:cNvPr id="7" name="TextBox 6"/>
          <p:cNvSpPr txBox="1"/>
          <p:nvPr/>
        </p:nvSpPr>
        <p:spPr>
          <a:xfrm>
            <a:off x="11430000" y="6583680"/>
            <a:ext cx="640080" cy="256032"/>
          </a:xfrm>
          <a:prstGeom prst="rect">
            <a:avLst/>
          </a:prstGeom>
          <a:noFill/>
        </p:spPr>
        <p:txBody>
          <a:bodyPr wrap="square">
            <a:spAutoFit/>
          </a:bodyPr>
          <a:lstStyle/>
          <a:p>
            <a:pPr algn="r"/>
            <a:r>
              <a:rPr sz="1100" b="0">
                <a:solidFill>
                  <a:srgbClr val="FFFFFF"/>
                </a:solidFill>
                <a:latin typeface="Calibri"/>
              </a:rPr>
              <a:t>8 / 8</a:t>
            </a:r>
          </a:p>
        </p:txBody>
      </p:sp>
      <p:sp>
        <p:nvSpPr>
          <p:cNvPr id="8" name="TextBox 7"/>
          <p:cNvSpPr txBox="1"/>
          <p:nvPr/>
        </p:nvSpPr>
        <p:spPr>
          <a:xfrm>
            <a:off x="320040" y="1234440"/>
            <a:ext cx="5669280" cy="3474720"/>
          </a:xfrm>
          <a:prstGeom prst="rect">
            <a:avLst/>
          </a:prstGeom>
          <a:noFill/>
        </p:spPr>
        <p:txBody>
          <a:bodyPr wrap="square">
            <a:spAutoFit/>
          </a:bodyPr>
          <a:lstStyle/>
          <a:p>
            <a:pPr algn="l"/>
            <a:r>
              <a:rPr sz="1500" b="1">
                <a:solidFill>
                  <a:srgbClr val="CC0000"/>
                </a:solidFill>
                <a:latin typeface="Calibri"/>
              </a:rPr>
              <a:t>Summary of Findings</a:t>
            </a:r>
          </a:p>
          <a:p>
            <a:pPr algn="l">
              <a:spcBef>
                <a:spcPts val="400"/>
              </a:spcBef>
            </a:pPr>
            <a:r>
              <a:rPr sz="1400">
                <a:solidFill>
                  <a:srgbClr val="2B2B2B"/>
                </a:solidFill>
                <a:latin typeface="Calibri"/>
              </a:rPr>
              <a:t>▸  Fusion improves over RGB-only: 82.1% → 87.4% (+5.3 pts)</a:t>
            </a:r>
          </a:p>
          <a:p>
            <a:pPr algn="l">
              <a:spcBef>
                <a:spcPts val="400"/>
              </a:spcBef>
            </a:pPr>
            <a:r>
              <a:rPr sz="1400">
                <a:solidFill>
                  <a:srgbClr val="2B2B2B"/>
                </a:solidFill>
                <a:latin typeface="Calibri"/>
              </a:rPr>
              <a:t>▸  Farneback flow provides complementary signal to 3D CNN</a:t>
            </a:r>
          </a:p>
          <a:p>
            <a:pPr algn="l">
              <a:spcBef>
                <a:spcPts val="400"/>
              </a:spcBef>
            </a:pPr>
            <a:r>
              <a:rPr sz="1400">
                <a:solidFill>
                  <a:srgbClr val="2B2B2B"/>
                </a:solidFill>
                <a:latin typeface="Calibri"/>
              </a:rPr>
              <a:t>▸  FP16 quantization: −0.2 pt vs. FP32  |  8-frame subsampling: −1.2 pts (Split 1)  → combined: 22.8 FPS</a:t>
            </a:r>
          </a:p>
          <a:p>
            <a:pPr algn="l">
              <a:spcBef>
                <a:spcPts val="400"/>
              </a:spcBef>
            </a:pPr>
            <a:r>
              <a:rPr sz="1400">
                <a:solidFill>
                  <a:srgbClr val="2B2B2B"/>
                </a:solidFill>
                <a:latin typeface="Calibri"/>
              </a:rPr>
              <a:t>▸  Optical flow remains the dominant latency bottleneck (18.7 ms)</a:t>
            </a:r>
          </a:p>
          <a:p>
            <a:pPr algn="l">
              <a:spcBef>
                <a:spcPts val="400"/>
              </a:spcBef>
            </a:pPr>
            <a:r>
              <a:rPr sz="1400">
                <a:solidFill>
                  <a:srgbClr val="2B2B2B"/>
                </a:solidFill>
                <a:latin typeface="Calibri"/>
              </a:rPr>
              <a:t>▸  Failure cases: visually similar pairs (bowling vs. throwing,
   pull-ups vs. push-ups) → occasional background reliance</a:t>
            </a:r>
          </a:p>
        </p:txBody>
      </p:sp>
      <p:sp>
        <p:nvSpPr>
          <p:cNvPr id="9" name="TextBox 8"/>
          <p:cNvSpPr txBox="1"/>
          <p:nvPr/>
        </p:nvSpPr>
        <p:spPr>
          <a:xfrm>
            <a:off x="320040" y="4709160"/>
            <a:ext cx="5669280" cy="1828800"/>
          </a:xfrm>
          <a:prstGeom prst="rect">
            <a:avLst/>
          </a:prstGeom>
          <a:noFill/>
        </p:spPr>
        <p:txBody>
          <a:bodyPr wrap="square">
            <a:spAutoFit/>
          </a:bodyPr>
          <a:lstStyle/>
          <a:p>
            <a:pPr algn="l"/>
            <a:r>
              <a:rPr sz="1500" b="1">
                <a:solidFill>
                  <a:srgbClr val="1F5EAA"/>
                </a:solidFill>
                <a:latin typeface="Calibri"/>
              </a:rPr>
              <a:t>Future Directions</a:t>
            </a:r>
          </a:p>
          <a:p>
            <a:pPr algn="l">
              <a:spcBef>
                <a:spcPts val="400"/>
              </a:spcBef>
            </a:pPr>
            <a:r>
              <a:rPr sz="1400">
                <a:solidFill>
                  <a:srgbClr val="2B2B2B"/>
                </a:solidFill>
                <a:latin typeface="Calibri"/>
              </a:rPr>
              <a:t>▸  Replace Farneback with RAFT-Tiny (learned fast-flow)</a:t>
            </a:r>
          </a:p>
          <a:p>
            <a:pPr algn="l">
              <a:spcBef>
                <a:spcPts val="400"/>
              </a:spcBef>
            </a:pPr>
            <a:r>
              <a:rPr sz="1400">
                <a:solidFill>
                  <a:srgbClr val="2B2B2B"/>
                </a:solidFill>
                <a:latin typeface="Calibri"/>
              </a:rPr>
              <a:t>▸  Evaluate on Kinetics-400 for broader generalization</a:t>
            </a:r>
          </a:p>
          <a:p>
            <a:pPr algn="l">
              <a:spcBef>
                <a:spcPts val="400"/>
              </a:spcBef>
            </a:pPr>
            <a:r>
              <a:rPr sz="1400">
                <a:solidFill>
                  <a:srgbClr val="2B2B2B"/>
                </a:solidFill>
                <a:latin typeface="Calibri"/>
              </a:rPr>
              <a:t>▸  Add action localization for untrimmed video streams</a:t>
            </a:r>
          </a:p>
          <a:p>
            <a:pPr algn="l">
              <a:spcBef>
                <a:spcPts val="400"/>
              </a:spcBef>
            </a:pPr>
            <a:r>
              <a:rPr sz="1400">
                <a:solidFill>
                  <a:srgbClr val="2B2B2B"/>
                </a:solidFill>
                <a:latin typeface="Calibri"/>
              </a:rPr>
              <a:t>▸  Explore attention-based background suppression</a:t>
            </a:r>
          </a:p>
        </p:txBody>
      </p:sp>
      <p:sp>
        <p:nvSpPr>
          <p:cNvPr id="10" name="Rectangle 9"/>
          <p:cNvSpPr/>
          <p:nvPr/>
        </p:nvSpPr>
        <p:spPr>
          <a:xfrm>
            <a:off x="6126480" y="1234440"/>
            <a:ext cx="5760720" cy="53035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463040"/>
            <a:ext cx="5486400" cy="457200"/>
          </a:xfrm>
          <a:prstGeom prst="rect">
            <a:avLst/>
          </a:prstGeom>
          <a:noFill/>
        </p:spPr>
        <p:txBody>
          <a:bodyPr wrap="square">
            <a:spAutoFit/>
          </a:bodyPr>
          <a:lstStyle/>
          <a:p>
            <a:pPr algn="ctr"/>
            <a:r>
              <a:rPr sz="2000" b="1">
                <a:solidFill>
                  <a:srgbClr val="FFFFFF"/>
                </a:solidFill>
                <a:latin typeface="Calibri"/>
              </a:rPr>
              <a:t>Take-Away</a:t>
            </a:r>
          </a:p>
        </p:txBody>
      </p:sp>
      <p:sp>
        <p:nvSpPr>
          <p:cNvPr id="12" name="TextBox 11"/>
          <p:cNvSpPr txBox="1"/>
          <p:nvPr/>
        </p:nvSpPr>
        <p:spPr>
          <a:xfrm>
            <a:off x="6309360" y="2011680"/>
            <a:ext cx="5486400" cy="1371600"/>
          </a:xfrm>
          <a:prstGeom prst="rect">
            <a:avLst/>
          </a:prstGeom>
          <a:noFill/>
        </p:spPr>
        <p:txBody>
          <a:bodyPr wrap="square">
            <a:spAutoFit/>
          </a:bodyPr>
          <a:lstStyle/>
          <a:p>
            <a:pPr algn="ctr"/>
            <a:r>
              <a:rPr sz="1700" b="0" i="1">
                <a:solidFill>
                  <a:srgbClr val="FFFFFF"/>
                </a:solidFill>
                <a:latin typeface="Calibri"/>
              </a:rPr>
              <a:t>Competitive accuracy AND real-time
throughput are simultaneously achievable
without large Transformer architectures.</a:t>
            </a:r>
          </a:p>
        </p:txBody>
      </p:sp>
      <p:sp>
        <p:nvSpPr>
          <p:cNvPr id="13" name="Rectangle 12"/>
          <p:cNvSpPr/>
          <p:nvPr/>
        </p:nvSpPr>
        <p:spPr>
          <a:xfrm>
            <a:off x="6949440" y="3520440"/>
            <a:ext cx="4206240" cy="36576"/>
          </a:xfrm>
          <a:prstGeom prst="rect">
            <a:avLst/>
          </a:prstGeom>
          <a:solidFill>
            <a:srgbClr val="FF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3657600"/>
            <a:ext cx="2743200" cy="502920"/>
          </a:xfrm>
          <a:prstGeom prst="rect">
            <a:avLst/>
          </a:prstGeom>
          <a:noFill/>
        </p:spPr>
        <p:txBody>
          <a:bodyPr wrap="square">
            <a:spAutoFit/>
          </a:bodyPr>
          <a:lstStyle/>
          <a:p>
            <a:pPr algn="ctr"/>
            <a:r>
              <a:rPr sz="2800" b="1">
                <a:solidFill>
                  <a:srgbClr val="FFFFFF"/>
                </a:solidFill>
                <a:latin typeface="Calibri"/>
              </a:rPr>
              <a:t>87.2%</a:t>
            </a:r>
          </a:p>
        </p:txBody>
      </p:sp>
      <p:sp>
        <p:nvSpPr>
          <p:cNvPr id="15" name="TextBox 14"/>
          <p:cNvSpPr txBox="1"/>
          <p:nvPr/>
        </p:nvSpPr>
        <p:spPr>
          <a:xfrm>
            <a:off x="6309360" y="4133088"/>
            <a:ext cx="5486400" cy="347472"/>
          </a:xfrm>
          <a:prstGeom prst="rect">
            <a:avLst/>
          </a:prstGeom>
          <a:noFill/>
        </p:spPr>
        <p:txBody>
          <a:bodyPr wrap="square">
            <a:spAutoFit/>
          </a:bodyPr>
          <a:lstStyle/>
          <a:p>
            <a:pPr algn="ctr"/>
            <a:r>
              <a:rPr sz="1300" b="0">
                <a:solidFill>
                  <a:srgbClr val="FFCCCC"/>
                </a:solidFill>
                <a:latin typeface="Calibri"/>
              </a:rPr>
              <a:t>Top-1 Accuracy</a:t>
            </a:r>
          </a:p>
        </p:txBody>
      </p:sp>
      <p:sp>
        <p:nvSpPr>
          <p:cNvPr id="16" name="TextBox 15"/>
          <p:cNvSpPr txBox="1"/>
          <p:nvPr/>
        </p:nvSpPr>
        <p:spPr>
          <a:xfrm>
            <a:off x="6309360" y="4553712"/>
            <a:ext cx="2743200" cy="502920"/>
          </a:xfrm>
          <a:prstGeom prst="rect">
            <a:avLst/>
          </a:prstGeom>
          <a:noFill/>
        </p:spPr>
        <p:txBody>
          <a:bodyPr wrap="square">
            <a:spAutoFit/>
          </a:bodyPr>
          <a:lstStyle/>
          <a:p>
            <a:pPr algn="ctr"/>
            <a:r>
              <a:rPr sz="2800" b="1">
                <a:solidFill>
                  <a:srgbClr val="FFFFFF"/>
                </a:solidFill>
                <a:latin typeface="Calibri"/>
              </a:rPr>
              <a:t>22.8</a:t>
            </a:r>
          </a:p>
        </p:txBody>
      </p:sp>
      <p:sp>
        <p:nvSpPr>
          <p:cNvPr id="17" name="TextBox 16"/>
          <p:cNvSpPr txBox="1"/>
          <p:nvPr/>
        </p:nvSpPr>
        <p:spPr>
          <a:xfrm>
            <a:off x="6309360" y="5029200"/>
            <a:ext cx="5486400" cy="347472"/>
          </a:xfrm>
          <a:prstGeom prst="rect">
            <a:avLst/>
          </a:prstGeom>
          <a:noFill/>
        </p:spPr>
        <p:txBody>
          <a:bodyPr wrap="square">
            <a:spAutoFit/>
          </a:bodyPr>
          <a:lstStyle/>
          <a:p>
            <a:pPr algn="ctr"/>
            <a:r>
              <a:rPr sz="1300" b="0">
                <a:solidFill>
                  <a:srgbClr val="FFCCCC"/>
                </a:solidFill>
                <a:latin typeface="Calibri"/>
              </a:rPr>
              <a:t>FPS (real-time)</a:t>
            </a:r>
          </a:p>
        </p:txBody>
      </p:sp>
      <p:sp>
        <p:nvSpPr>
          <p:cNvPr id="18" name="TextBox 17"/>
          <p:cNvSpPr txBox="1"/>
          <p:nvPr/>
        </p:nvSpPr>
        <p:spPr>
          <a:xfrm>
            <a:off x="6309360" y="5449824"/>
            <a:ext cx="2743200" cy="502920"/>
          </a:xfrm>
          <a:prstGeom prst="rect">
            <a:avLst/>
          </a:prstGeom>
          <a:noFill/>
        </p:spPr>
        <p:txBody>
          <a:bodyPr wrap="square">
            <a:spAutoFit/>
          </a:bodyPr>
          <a:lstStyle/>
          <a:p>
            <a:pPr algn="ctr"/>
            <a:r>
              <a:rPr sz="2800" b="1">
                <a:solidFill>
                  <a:srgbClr val="FFFFFF"/>
                </a:solidFill>
                <a:latin typeface="Calibri"/>
              </a:rPr>
              <a:t>+5.1</a:t>
            </a:r>
          </a:p>
        </p:txBody>
      </p:sp>
      <p:sp>
        <p:nvSpPr>
          <p:cNvPr id="19" name="TextBox 18"/>
          <p:cNvSpPr txBox="1"/>
          <p:nvPr/>
        </p:nvSpPr>
        <p:spPr>
          <a:xfrm>
            <a:off x="6309360" y="5925312"/>
            <a:ext cx="5486400" cy="347472"/>
          </a:xfrm>
          <a:prstGeom prst="rect">
            <a:avLst/>
          </a:prstGeom>
          <a:noFill/>
        </p:spPr>
        <p:txBody>
          <a:bodyPr wrap="square">
            <a:spAutoFit/>
          </a:bodyPr>
          <a:lstStyle/>
          <a:p>
            <a:pPr algn="ctr"/>
            <a:r>
              <a:rPr sz="1300" b="0">
                <a:solidFill>
                  <a:srgbClr val="FFCCCC"/>
                </a:solidFill>
                <a:latin typeface="Calibri"/>
              </a:rPr>
              <a:t>pts over RGB-only</a:t>
            </a:r>
          </a:p>
        </p:txBody>
      </p:sp>
      <p:sp>
        <p:nvSpPr>
          <p:cNvPr id="20" name="TextBox 19"/>
          <p:cNvSpPr txBox="1"/>
          <p:nvPr/>
        </p:nvSpPr>
        <p:spPr>
          <a:xfrm>
            <a:off x="6309360" y="6309360"/>
            <a:ext cx="5486400" cy="347472"/>
          </a:xfrm>
          <a:prstGeom prst="rect">
            <a:avLst/>
          </a:prstGeom>
          <a:noFill/>
        </p:spPr>
        <p:txBody>
          <a:bodyPr wrap="square">
            <a:spAutoFit/>
          </a:bodyPr>
          <a:lstStyle/>
          <a:p>
            <a:pPr algn="ctr"/>
            <a:r>
              <a:rPr sz="1200" b="0" i="1">
                <a:solidFill>
                  <a:srgbClr val="FFCCCC"/>
                </a:solidFill>
                <a:latin typeface="Calibri"/>
              </a:rPr>
              <a:t>Code &amp; Report: github.com / Gradescope submission</a:t>
            </a:r>
          </a:p>
        </p:txBody>
      </p:sp>
    </p:spTree>
  </p:cSld>
  <p:clrMapOvr>
    <a:masterClrMapping/>
  </p:clrMapOvr>
  <mc:AlternateContent xmlns:mc="http://schemas.openxmlformats.org/markup-compatibility/2006" xmlns:p14="http://schemas.microsoft.com/office/powerpoint/2010/main">
    <mc:Choice Requires="p14">
      <p:transition spd="slow" p14:dur="2000" advTm="10252"/>
    </mc:Choice>
    <mc:Fallback xmlns="">
      <p:transition spd="slow" advTm="10252"/>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2198</Words>
  <Application>Microsoft Office PowerPoint</Application>
  <PresentationFormat>自定义</PresentationFormat>
  <Paragraphs>204</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Shenwei Fan</cp:lastModifiedBy>
  <cp:revision>5</cp:revision>
  <dcterms:created xsi:type="dcterms:W3CDTF">2013-01-27T09:14:16Z</dcterms:created>
  <dcterms:modified xsi:type="dcterms:W3CDTF">2026-04-21T18:36:02Z</dcterms:modified>
  <cp:category/>
</cp:coreProperties>
</file>